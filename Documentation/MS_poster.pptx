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Lst>
  <p:sldSz cx="15113000" cy="21374100"/>
  <p:notesSz cx="6858000" cy="9144000"/>
  <p:embeddedFontLst>
    <p:embeddedFont>
      <p:font typeface="Tahoma" charset="1" panose="020B0604030504040204"/>
      <p:regular r:id="rId7"/>
    </p:embeddedFont>
    <p:embeddedFont>
      <p:font typeface="Almarai" charset="1" panose="00000000000000000000"/>
      <p:regular r:id="rId8"/>
    </p:embeddedFont>
    <p:embeddedFont>
      <p:font typeface="Almarai Bold" charset="1" panose="00000000000000000000"/>
      <p:regular r:id="rId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fonts/font7.fntdata" Type="http://schemas.openxmlformats.org/officeDocument/2006/relationships/font"/><Relationship Id="rId8" Target="fonts/font8.fntdata" Type="http://schemas.openxmlformats.org/officeDocument/2006/relationships/font"/><Relationship Id="rId9" Target="fonts/font9.fntdata" Type="http://schemas.openxmlformats.org/officeDocument/2006/relationships/font"/></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jpeg" Type="http://schemas.openxmlformats.org/officeDocument/2006/relationships/image"/><Relationship Id="rId11" Target="../media/image10.jpe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27.jpeg" Type="http://schemas.openxmlformats.org/officeDocument/2006/relationships/image"/><Relationship Id="rId29" Target="../media/image28.jpeg" Type="http://schemas.openxmlformats.org/officeDocument/2006/relationships/image"/><Relationship Id="rId3" Target="../media/image2.jpeg" Type="http://schemas.openxmlformats.org/officeDocument/2006/relationships/image"/><Relationship Id="rId30" Target="../media/image29.jpeg" Type="http://schemas.openxmlformats.org/officeDocument/2006/relationships/image"/><Relationship Id="rId31" Target="../media/image30.jpeg" Type="http://schemas.openxmlformats.org/officeDocument/2006/relationships/image"/><Relationship Id="rId32" Target="../media/image31.jpeg" Type="http://schemas.openxmlformats.org/officeDocument/2006/relationships/image"/><Relationship Id="rId33" Target="../media/image32.jpeg" Type="http://schemas.openxmlformats.org/officeDocument/2006/relationships/image"/><Relationship Id="rId34" Target="../media/image33.jpeg" Type="http://schemas.openxmlformats.org/officeDocument/2006/relationships/image"/><Relationship Id="rId35" Target="../media/image34.jpeg" Type="http://schemas.openxmlformats.org/officeDocument/2006/relationships/image"/><Relationship Id="rId4" Target="../media/image3.jpeg" Type="http://schemas.openxmlformats.org/officeDocument/2006/relationships/image"/><Relationship Id="rId5" Target="../media/image4.jpeg" Type="http://schemas.openxmlformats.org/officeDocument/2006/relationships/image"/><Relationship Id="rId6" Target="../media/image5.jpeg" Type="http://schemas.openxmlformats.org/officeDocument/2006/relationships/image"/><Relationship Id="rId7" Target="../media/image6.jpeg" Type="http://schemas.openxmlformats.org/officeDocument/2006/relationships/image"/><Relationship Id="rId8" Target="../media/image7.jpeg" Type="http://schemas.openxmlformats.org/officeDocument/2006/relationships/image"/><Relationship Id="rId9" Target="../media/image8.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AF8544"/>
        </a:solidFill>
      </p:bgPr>
    </p:bg>
    <p:spTree>
      <p:nvGrpSpPr>
        <p:cNvPr id="1" name=""/>
        <p:cNvGrpSpPr/>
        <p:nvPr/>
      </p:nvGrpSpPr>
      <p:grpSpPr>
        <a:xfrm>
          <a:off x="0" y="0"/>
          <a:ext cx="0" cy="0"/>
          <a:chOff x="0" y="0"/>
          <a:chExt cx="0" cy="0"/>
        </a:xfrm>
      </p:grpSpPr>
      <p:grpSp>
        <p:nvGrpSpPr>
          <p:cNvPr name="Group 2" id="2"/>
          <p:cNvGrpSpPr/>
          <p:nvPr/>
        </p:nvGrpSpPr>
        <p:grpSpPr>
          <a:xfrm rot="0">
            <a:off x="273879" y="316774"/>
            <a:ext cx="8654672" cy="3391951"/>
            <a:chOff x="0" y="0"/>
            <a:chExt cx="1610362" cy="631135"/>
          </a:xfrm>
        </p:grpSpPr>
        <p:sp>
          <p:nvSpPr>
            <p:cNvPr name="Freeform 3" id="3"/>
            <p:cNvSpPr/>
            <p:nvPr/>
          </p:nvSpPr>
          <p:spPr>
            <a:xfrm flipH="false" flipV="false" rot="0">
              <a:off x="0" y="0"/>
              <a:ext cx="1610362" cy="631135"/>
            </a:xfrm>
            <a:custGeom>
              <a:avLst/>
              <a:gdLst/>
              <a:ahLst/>
              <a:cxnLst/>
              <a:rect r="r" b="b" t="t" l="l"/>
              <a:pathLst>
                <a:path h="631135" w="1610362">
                  <a:moveTo>
                    <a:pt x="0" y="0"/>
                  </a:moveTo>
                  <a:lnTo>
                    <a:pt x="1610362" y="0"/>
                  </a:lnTo>
                  <a:lnTo>
                    <a:pt x="1610362" y="631135"/>
                  </a:lnTo>
                  <a:lnTo>
                    <a:pt x="0" y="631135"/>
                  </a:lnTo>
                  <a:close/>
                </a:path>
              </a:pathLst>
            </a:custGeom>
            <a:solidFill>
              <a:srgbClr val="FFFFFF"/>
            </a:solidFill>
            <a:ln w="47625" cap="sq">
              <a:solidFill>
                <a:srgbClr val="FFFFFF"/>
              </a:solidFill>
              <a:prstDash val="solid"/>
              <a:miter/>
            </a:ln>
          </p:spPr>
        </p:sp>
        <p:sp>
          <p:nvSpPr>
            <p:cNvPr name="TextBox 4" id="4"/>
            <p:cNvSpPr txBox="true"/>
            <p:nvPr/>
          </p:nvSpPr>
          <p:spPr>
            <a:xfrm>
              <a:off x="0" y="-47625"/>
              <a:ext cx="1610362" cy="678760"/>
            </a:xfrm>
            <a:prstGeom prst="rect">
              <a:avLst/>
            </a:prstGeom>
          </p:spPr>
          <p:txBody>
            <a:bodyPr anchor="ctr" rtlCol="false" tIns="44941" lIns="44941" bIns="44941" rIns="44941"/>
            <a:lstStyle/>
            <a:p>
              <a:pPr algn="ctr">
                <a:lnSpc>
                  <a:spcPts val="3839"/>
                </a:lnSpc>
                <a:spcBef>
                  <a:spcPct val="0"/>
                </a:spcBef>
              </a:pPr>
            </a:p>
          </p:txBody>
        </p:sp>
      </p:grpSp>
      <p:grpSp>
        <p:nvGrpSpPr>
          <p:cNvPr name="Group 5" id="5"/>
          <p:cNvGrpSpPr/>
          <p:nvPr/>
        </p:nvGrpSpPr>
        <p:grpSpPr>
          <a:xfrm rot="0">
            <a:off x="273879" y="12049665"/>
            <a:ext cx="7286121" cy="4899018"/>
            <a:chOff x="0" y="0"/>
            <a:chExt cx="1355718" cy="911553"/>
          </a:xfrm>
        </p:grpSpPr>
        <p:sp>
          <p:nvSpPr>
            <p:cNvPr name="Freeform 6" id="6"/>
            <p:cNvSpPr/>
            <p:nvPr/>
          </p:nvSpPr>
          <p:spPr>
            <a:xfrm flipH="false" flipV="false" rot="0">
              <a:off x="0" y="0"/>
              <a:ext cx="1355718" cy="911553"/>
            </a:xfrm>
            <a:custGeom>
              <a:avLst/>
              <a:gdLst/>
              <a:ahLst/>
              <a:cxnLst/>
              <a:rect r="r" b="b" t="t" l="l"/>
              <a:pathLst>
                <a:path h="911553" w="1355718">
                  <a:moveTo>
                    <a:pt x="0" y="0"/>
                  </a:moveTo>
                  <a:lnTo>
                    <a:pt x="1355718" y="0"/>
                  </a:lnTo>
                  <a:lnTo>
                    <a:pt x="1355718" y="911553"/>
                  </a:lnTo>
                  <a:lnTo>
                    <a:pt x="0" y="911553"/>
                  </a:lnTo>
                  <a:close/>
                </a:path>
              </a:pathLst>
            </a:custGeom>
            <a:solidFill>
              <a:srgbClr val="FFFFFF"/>
            </a:solidFill>
            <a:ln w="47625" cap="sq">
              <a:solidFill>
                <a:srgbClr val="FFFFFF"/>
              </a:solidFill>
              <a:prstDash val="solid"/>
              <a:miter/>
            </a:ln>
          </p:spPr>
        </p:sp>
        <p:sp>
          <p:nvSpPr>
            <p:cNvPr name="TextBox 7" id="7"/>
            <p:cNvSpPr txBox="true"/>
            <p:nvPr/>
          </p:nvSpPr>
          <p:spPr>
            <a:xfrm>
              <a:off x="0" y="-47625"/>
              <a:ext cx="1355718" cy="959178"/>
            </a:xfrm>
            <a:prstGeom prst="rect">
              <a:avLst/>
            </a:prstGeom>
          </p:spPr>
          <p:txBody>
            <a:bodyPr anchor="ctr" rtlCol="false" tIns="44941" lIns="44941" bIns="44941" rIns="44941"/>
            <a:lstStyle/>
            <a:p>
              <a:pPr algn="ctr">
                <a:lnSpc>
                  <a:spcPts val="3839"/>
                </a:lnSpc>
                <a:spcBef>
                  <a:spcPct val="0"/>
                </a:spcBef>
              </a:pPr>
            </a:p>
          </p:txBody>
        </p:sp>
      </p:grpSp>
      <p:grpSp>
        <p:nvGrpSpPr>
          <p:cNvPr name="Group 8" id="8"/>
          <p:cNvGrpSpPr/>
          <p:nvPr/>
        </p:nvGrpSpPr>
        <p:grpSpPr>
          <a:xfrm rot="0">
            <a:off x="273879" y="3880175"/>
            <a:ext cx="7286121" cy="7998041"/>
            <a:chOff x="0" y="0"/>
            <a:chExt cx="1355718" cy="1488184"/>
          </a:xfrm>
        </p:grpSpPr>
        <p:sp>
          <p:nvSpPr>
            <p:cNvPr name="Freeform 9" id="9"/>
            <p:cNvSpPr/>
            <p:nvPr/>
          </p:nvSpPr>
          <p:spPr>
            <a:xfrm flipH="false" flipV="false" rot="0">
              <a:off x="0" y="0"/>
              <a:ext cx="1355718" cy="1488184"/>
            </a:xfrm>
            <a:custGeom>
              <a:avLst/>
              <a:gdLst/>
              <a:ahLst/>
              <a:cxnLst/>
              <a:rect r="r" b="b" t="t" l="l"/>
              <a:pathLst>
                <a:path h="1488184" w="1355718">
                  <a:moveTo>
                    <a:pt x="0" y="0"/>
                  </a:moveTo>
                  <a:lnTo>
                    <a:pt x="1355718" y="0"/>
                  </a:lnTo>
                  <a:lnTo>
                    <a:pt x="1355718" y="1488184"/>
                  </a:lnTo>
                  <a:lnTo>
                    <a:pt x="0" y="1488184"/>
                  </a:lnTo>
                  <a:close/>
                </a:path>
              </a:pathLst>
            </a:custGeom>
            <a:solidFill>
              <a:srgbClr val="FFFFFF"/>
            </a:solidFill>
            <a:ln w="47625" cap="sq">
              <a:solidFill>
                <a:srgbClr val="FFFFFF"/>
              </a:solidFill>
              <a:prstDash val="solid"/>
              <a:miter/>
            </a:ln>
          </p:spPr>
        </p:sp>
        <p:sp>
          <p:nvSpPr>
            <p:cNvPr name="TextBox 10" id="10"/>
            <p:cNvSpPr txBox="true"/>
            <p:nvPr/>
          </p:nvSpPr>
          <p:spPr>
            <a:xfrm>
              <a:off x="0" y="-47625"/>
              <a:ext cx="1355718" cy="1535809"/>
            </a:xfrm>
            <a:prstGeom prst="rect">
              <a:avLst/>
            </a:prstGeom>
          </p:spPr>
          <p:txBody>
            <a:bodyPr anchor="ctr" rtlCol="false" tIns="44941" lIns="44941" bIns="44941" rIns="44941"/>
            <a:lstStyle/>
            <a:p>
              <a:pPr algn="ctr">
                <a:lnSpc>
                  <a:spcPts val="3839"/>
                </a:lnSpc>
                <a:spcBef>
                  <a:spcPct val="0"/>
                </a:spcBef>
              </a:pPr>
            </a:p>
          </p:txBody>
        </p:sp>
      </p:grpSp>
      <p:grpSp>
        <p:nvGrpSpPr>
          <p:cNvPr name="Group 11" id="11"/>
          <p:cNvGrpSpPr/>
          <p:nvPr/>
        </p:nvGrpSpPr>
        <p:grpSpPr>
          <a:xfrm rot="0">
            <a:off x="7754352" y="7890043"/>
            <a:ext cx="7071759" cy="4159623"/>
            <a:chOff x="0" y="0"/>
            <a:chExt cx="1315832" cy="773975"/>
          </a:xfrm>
        </p:grpSpPr>
        <p:sp>
          <p:nvSpPr>
            <p:cNvPr name="Freeform 12" id="12"/>
            <p:cNvSpPr/>
            <p:nvPr/>
          </p:nvSpPr>
          <p:spPr>
            <a:xfrm flipH="false" flipV="false" rot="0">
              <a:off x="0" y="0"/>
              <a:ext cx="1315832" cy="773975"/>
            </a:xfrm>
            <a:custGeom>
              <a:avLst/>
              <a:gdLst/>
              <a:ahLst/>
              <a:cxnLst/>
              <a:rect r="r" b="b" t="t" l="l"/>
              <a:pathLst>
                <a:path h="773975" w="1315832">
                  <a:moveTo>
                    <a:pt x="0" y="0"/>
                  </a:moveTo>
                  <a:lnTo>
                    <a:pt x="1315832" y="0"/>
                  </a:lnTo>
                  <a:lnTo>
                    <a:pt x="1315832" y="773975"/>
                  </a:lnTo>
                  <a:lnTo>
                    <a:pt x="0" y="773975"/>
                  </a:lnTo>
                  <a:close/>
                </a:path>
              </a:pathLst>
            </a:custGeom>
            <a:solidFill>
              <a:srgbClr val="FFFFFF"/>
            </a:solidFill>
            <a:ln w="47625" cap="sq">
              <a:solidFill>
                <a:srgbClr val="FFFFFF"/>
              </a:solidFill>
              <a:prstDash val="solid"/>
              <a:miter/>
            </a:ln>
          </p:spPr>
        </p:sp>
        <p:sp>
          <p:nvSpPr>
            <p:cNvPr name="TextBox 13" id="13"/>
            <p:cNvSpPr txBox="true"/>
            <p:nvPr/>
          </p:nvSpPr>
          <p:spPr>
            <a:xfrm>
              <a:off x="0" y="-47625"/>
              <a:ext cx="1315832" cy="821600"/>
            </a:xfrm>
            <a:prstGeom prst="rect">
              <a:avLst/>
            </a:prstGeom>
          </p:spPr>
          <p:txBody>
            <a:bodyPr anchor="ctr" rtlCol="false" tIns="44941" lIns="44941" bIns="44941" rIns="44941"/>
            <a:lstStyle/>
            <a:p>
              <a:pPr algn="ctr">
                <a:lnSpc>
                  <a:spcPts val="3839"/>
                </a:lnSpc>
                <a:spcBef>
                  <a:spcPct val="0"/>
                </a:spcBef>
              </a:pPr>
            </a:p>
          </p:txBody>
        </p:sp>
      </p:grpSp>
      <p:grpSp>
        <p:nvGrpSpPr>
          <p:cNvPr name="Group 14" id="14"/>
          <p:cNvGrpSpPr/>
          <p:nvPr/>
        </p:nvGrpSpPr>
        <p:grpSpPr>
          <a:xfrm rot="0">
            <a:off x="273879" y="17167759"/>
            <a:ext cx="7286121" cy="3916240"/>
            <a:chOff x="0" y="0"/>
            <a:chExt cx="1355718" cy="728689"/>
          </a:xfrm>
        </p:grpSpPr>
        <p:sp>
          <p:nvSpPr>
            <p:cNvPr name="Freeform 15" id="15"/>
            <p:cNvSpPr/>
            <p:nvPr/>
          </p:nvSpPr>
          <p:spPr>
            <a:xfrm flipH="false" flipV="false" rot="0">
              <a:off x="0" y="0"/>
              <a:ext cx="1355718" cy="728689"/>
            </a:xfrm>
            <a:custGeom>
              <a:avLst/>
              <a:gdLst/>
              <a:ahLst/>
              <a:cxnLst/>
              <a:rect r="r" b="b" t="t" l="l"/>
              <a:pathLst>
                <a:path h="728689" w="1355718">
                  <a:moveTo>
                    <a:pt x="0" y="0"/>
                  </a:moveTo>
                  <a:lnTo>
                    <a:pt x="1355718" y="0"/>
                  </a:lnTo>
                  <a:lnTo>
                    <a:pt x="1355718" y="728689"/>
                  </a:lnTo>
                  <a:lnTo>
                    <a:pt x="0" y="728689"/>
                  </a:lnTo>
                  <a:close/>
                </a:path>
              </a:pathLst>
            </a:custGeom>
            <a:solidFill>
              <a:srgbClr val="FFFFFF"/>
            </a:solidFill>
            <a:ln w="47625" cap="sq">
              <a:solidFill>
                <a:srgbClr val="FFFFFF"/>
              </a:solidFill>
              <a:prstDash val="solid"/>
              <a:miter/>
            </a:ln>
          </p:spPr>
        </p:sp>
        <p:sp>
          <p:nvSpPr>
            <p:cNvPr name="TextBox 16" id="16"/>
            <p:cNvSpPr txBox="true"/>
            <p:nvPr/>
          </p:nvSpPr>
          <p:spPr>
            <a:xfrm>
              <a:off x="0" y="-47625"/>
              <a:ext cx="1355718" cy="776314"/>
            </a:xfrm>
            <a:prstGeom prst="rect">
              <a:avLst/>
            </a:prstGeom>
          </p:spPr>
          <p:txBody>
            <a:bodyPr anchor="ctr" rtlCol="false" tIns="44941" lIns="44941" bIns="44941" rIns="44941"/>
            <a:lstStyle/>
            <a:p>
              <a:pPr algn="ctr">
                <a:lnSpc>
                  <a:spcPts val="3839"/>
                </a:lnSpc>
              </a:pPr>
            </a:p>
            <a:p>
              <a:pPr algn="ctr">
                <a:lnSpc>
                  <a:spcPts val="3839"/>
                </a:lnSpc>
              </a:pPr>
            </a:p>
            <a:p>
              <a:pPr algn="ctr">
                <a:lnSpc>
                  <a:spcPts val="3839"/>
                </a:lnSpc>
                <a:spcBef>
                  <a:spcPct val="0"/>
                </a:spcBef>
              </a:pPr>
            </a:p>
          </p:txBody>
        </p:sp>
      </p:grpSp>
      <p:sp>
        <p:nvSpPr>
          <p:cNvPr name="AutoShape 17" id="17"/>
          <p:cNvSpPr/>
          <p:nvPr/>
        </p:nvSpPr>
        <p:spPr>
          <a:xfrm flipH="true">
            <a:off x="11380940" y="8610091"/>
            <a:ext cx="2309928" cy="0"/>
          </a:xfrm>
          <a:prstGeom prst="line">
            <a:avLst/>
          </a:prstGeom>
          <a:ln cap="flat" w="28575">
            <a:solidFill>
              <a:srgbClr val="000000"/>
            </a:solidFill>
            <a:prstDash val="solid"/>
            <a:headEnd type="none" len="sm" w="sm"/>
            <a:tailEnd type="none" len="sm" w="sm"/>
          </a:ln>
        </p:spPr>
      </p:sp>
      <p:grpSp>
        <p:nvGrpSpPr>
          <p:cNvPr name="Group 18" id="18"/>
          <p:cNvGrpSpPr/>
          <p:nvPr/>
        </p:nvGrpSpPr>
        <p:grpSpPr>
          <a:xfrm rot="0">
            <a:off x="7754352" y="12192540"/>
            <a:ext cx="7071759" cy="5981724"/>
            <a:chOff x="0" y="0"/>
            <a:chExt cx="1315832" cy="1113011"/>
          </a:xfrm>
        </p:grpSpPr>
        <p:sp>
          <p:nvSpPr>
            <p:cNvPr name="Freeform 19" id="19"/>
            <p:cNvSpPr/>
            <p:nvPr/>
          </p:nvSpPr>
          <p:spPr>
            <a:xfrm flipH="false" flipV="false" rot="0">
              <a:off x="0" y="0"/>
              <a:ext cx="1315832" cy="1113011"/>
            </a:xfrm>
            <a:custGeom>
              <a:avLst/>
              <a:gdLst/>
              <a:ahLst/>
              <a:cxnLst/>
              <a:rect r="r" b="b" t="t" l="l"/>
              <a:pathLst>
                <a:path h="1113011" w="1315832">
                  <a:moveTo>
                    <a:pt x="0" y="0"/>
                  </a:moveTo>
                  <a:lnTo>
                    <a:pt x="1315832" y="0"/>
                  </a:lnTo>
                  <a:lnTo>
                    <a:pt x="1315832" y="1113011"/>
                  </a:lnTo>
                  <a:lnTo>
                    <a:pt x="0" y="1113011"/>
                  </a:lnTo>
                  <a:close/>
                </a:path>
              </a:pathLst>
            </a:custGeom>
            <a:solidFill>
              <a:srgbClr val="FFFFFF"/>
            </a:solidFill>
            <a:ln w="47625" cap="sq">
              <a:solidFill>
                <a:srgbClr val="FFFFFF"/>
              </a:solidFill>
              <a:prstDash val="solid"/>
              <a:miter/>
            </a:ln>
          </p:spPr>
        </p:sp>
        <p:sp>
          <p:nvSpPr>
            <p:cNvPr name="TextBox 20" id="20"/>
            <p:cNvSpPr txBox="true"/>
            <p:nvPr/>
          </p:nvSpPr>
          <p:spPr>
            <a:xfrm>
              <a:off x="0" y="-47625"/>
              <a:ext cx="1315832" cy="1160636"/>
            </a:xfrm>
            <a:prstGeom prst="rect">
              <a:avLst/>
            </a:prstGeom>
          </p:spPr>
          <p:txBody>
            <a:bodyPr anchor="ctr" rtlCol="false" tIns="44941" lIns="44941" bIns="44941" rIns="44941"/>
            <a:lstStyle/>
            <a:p>
              <a:pPr algn="ctr">
                <a:lnSpc>
                  <a:spcPts val="3839"/>
                </a:lnSpc>
              </a:pPr>
            </a:p>
            <a:p>
              <a:pPr algn="ctr">
                <a:lnSpc>
                  <a:spcPts val="3839"/>
                </a:lnSpc>
                <a:spcBef>
                  <a:spcPct val="0"/>
                </a:spcBef>
              </a:pPr>
            </a:p>
          </p:txBody>
        </p:sp>
      </p:grpSp>
      <p:grpSp>
        <p:nvGrpSpPr>
          <p:cNvPr name="Group 21" id="21"/>
          <p:cNvGrpSpPr/>
          <p:nvPr/>
        </p:nvGrpSpPr>
        <p:grpSpPr>
          <a:xfrm rot="0">
            <a:off x="9061901" y="316774"/>
            <a:ext cx="5764210" cy="3306226"/>
            <a:chOff x="0" y="0"/>
            <a:chExt cx="789988" cy="453120"/>
          </a:xfrm>
        </p:grpSpPr>
        <p:sp>
          <p:nvSpPr>
            <p:cNvPr name="Freeform 22" id="22"/>
            <p:cNvSpPr/>
            <p:nvPr/>
          </p:nvSpPr>
          <p:spPr>
            <a:xfrm flipH="false" flipV="false" rot="0">
              <a:off x="0" y="0"/>
              <a:ext cx="789988" cy="453120"/>
            </a:xfrm>
            <a:custGeom>
              <a:avLst/>
              <a:gdLst/>
              <a:ahLst/>
              <a:cxnLst/>
              <a:rect r="r" b="b" t="t" l="l"/>
              <a:pathLst>
                <a:path h="453120" w="789988">
                  <a:moveTo>
                    <a:pt x="0" y="0"/>
                  </a:moveTo>
                  <a:lnTo>
                    <a:pt x="789988" y="0"/>
                  </a:lnTo>
                  <a:lnTo>
                    <a:pt x="789988" y="453120"/>
                  </a:lnTo>
                  <a:lnTo>
                    <a:pt x="0" y="453120"/>
                  </a:lnTo>
                  <a:close/>
                </a:path>
              </a:pathLst>
            </a:custGeom>
            <a:blipFill>
              <a:blip r:embed="rId2"/>
              <a:stretch>
                <a:fillRect l="-28805" t="0" r="-7574" b="-9968"/>
              </a:stretch>
            </a:blipFill>
            <a:ln w="47625" cap="sq">
              <a:solidFill>
                <a:srgbClr val="FFFFFF"/>
              </a:solidFill>
              <a:prstDash val="solid"/>
              <a:miter/>
            </a:ln>
          </p:spPr>
        </p:sp>
      </p:grpSp>
      <p:grpSp>
        <p:nvGrpSpPr>
          <p:cNvPr name="Group 23" id="23"/>
          <p:cNvGrpSpPr/>
          <p:nvPr/>
        </p:nvGrpSpPr>
        <p:grpSpPr>
          <a:xfrm rot="0">
            <a:off x="7754352" y="3880175"/>
            <a:ext cx="7071759" cy="3866993"/>
            <a:chOff x="0" y="0"/>
            <a:chExt cx="1315832" cy="719526"/>
          </a:xfrm>
        </p:grpSpPr>
        <p:sp>
          <p:nvSpPr>
            <p:cNvPr name="Freeform 24" id="24"/>
            <p:cNvSpPr/>
            <p:nvPr/>
          </p:nvSpPr>
          <p:spPr>
            <a:xfrm flipH="false" flipV="false" rot="0">
              <a:off x="0" y="0"/>
              <a:ext cx="1315832" cy="719526"/>
            </a:xfrm>
            <a:custGeom>
              <a:avLst/>
              <a:gdLst/>
              <a:ahLst/>
              <a:cxnLst/>
              <a:rect r="r" b="b" t="t" l="l"/>
              <a:pathLst>
                <a:path h="719526" w="1315832">
                  <a:moveTo>
                    <a:pt x="0" y="0"/>
                  </a:moveTo>
                  <a:lnTo>
                    <a:pt x="1315832" y="0"/>
                  </a:lnTo>
                  <a:lnTo>
                    <a:pt x="1315832" y="719526"/>
                  </a:lnTo>
                  <a:lnTo>
                    <a:pt x="0" y="719526"/>
                  </a:lnTo>
                  <a:close/>
                </a:path>
              </a:pathLst>
            </a:custGeom>
            <a:solidFill>
              <a:srgbClr val="FFFFFF"/>
            </a:solidFill>
            <a:ln w="47625" cap="sq">
              <a:solidFill>
                <a:srgbClr val="FFFFFF"/>
              </a:solidFill>
              <a:prstDash val="solid"/>
              <a:miter/>
            </a:ln>
          </p:spPr>
        </p:sp>
        <p:sp>
          <p:nvSpPr>
            <p:cNvPr name="TextBox 25" id="25"/>
            <p:cNvSpPr txBox="true"/>
            <p:nvPr/>
          </p:nvSpPr>
          <p:spPr>
            <a:xfrm>
              <a:off x="0" y="-47625"/>
              <a:ext cx="1315832" cy="767151"/>
            </a:xfrm>
            <a:prstGeom prst="rect">
              <a:avLst/>
            </a:prstGeom>
          </p:spPr>
          <p:txBody>
            <a:bodyPr anchor="ctr" rtlCol="false" tIns="44941" lIns="44941" bIns="44941" rIns="44941"/>
            <a:lstStyle/>
            <a:p>
              <a:pPr algn="ctr">
                <a:lnSpc>
                  <a:spcPts val="3839"/>
                </a:lnSpc>
                <a:spcBef>
                  <a:spcPct val="0"/>
                </a:spcBef>
              </a:pPr>
            </a:p>
          </p:txBody>
        </p:sp>
      </p:grpSp>
      <p:sp>
        <p:nvSpPr>
          <p:cNvPr name="AutoShape 26" id="26"/>
          <p:cNvSpPr/>
          <p:nvPr/>
        </p:nvSpPr>
        <p:spPr>
          <a:xfrm flipH="true">
            <a:off x="10931910" y="4455089"/>
            <a:ext cx="2769914" cy="0"/>
          </a:xfrm>
          <a:prstGeom prst="line">
            <a:avLst/>
          </a:prstGeom>
          <a:ln cap="flat" w="28575">
            <a:solidFill>
              <a:srgbClr val="000000"/>
            </a:solidFill>
            <a:prstDash val="solid"/>
            <a:headEnd type="none" len="sm" w="sm"/>
            <a:tailEnd type="none" len="sm" w="sm"/>
          </a:ln>
        </p:spPr>
      </p:sp>
      <p:sp>
        <p:nvSpPr>
          <p:cNvPr name="AutoShape 27" id="27"/>
          <p:cNvSpPr/>
          <p:nvPr/>
        </p:nvSpPr>
        <p:spPr>
          <a:xfrm flipH="true">
            <a:off x="11380940" y="13070377"/>
            <a:ext cx="2309928" cy="0"/>
          </a:xfrm>
          <a:prstGeom prst="line">
            <a:avLst/>
          </a:prstGeom>
          <a:ln cap="flat" w="28575">
            <a:solidFill>
              <a:srgbClr val="000000"/>
            </a:solidFill>
            <a:prstDash val="solid"/>
            <a:headEnd type="none" len="sm" w="sm"/>
            <a:tailEnd type="none" len="sm" w="sm"/>
          </a:ln>
        </p:spPr>
      </p:sp>
      <p:sp>
        <p:nvSpPr>
          <p:cNvPr name="AutoShape 28" id="28"/>
          <p:cNvSpPr/>
          <p:nvPr/>
        </p:nvSpPr>
        <p:spPr>
          <a:xfrm flipH="true">
            <a:off x="3487968" y="18132218"/>
            <a:ext cx="2987445" cy="0"/>
          </a:xfrm>
          <a:prstGeom prst="line">
            <a:avLst/>
          </a:prstGeom>
          <a:ln cap="flat" w="28575">
            <a:solidFill>
              <a:srgbClr val="000000"/>
            </a:solidFill>
            <a:prstDash val="solid"/>
            <a:headEnd type="none" len="sm" w="sm"/>
            <a:tailEnd type="none" len="sm" w="sm"/>
          </a:ln>
        </p:spPr>
      </p:sp>
      <p:sp>
        <p:nvSpPr>
          <p:cNvPr name="AutoShape 29" id="29"/>
          <p:cNvSpPr/>
          <p:nvPr/>
        </p:nvSpPr>
        <p:spPr>
          <a:xfrm flipH="true" flipV="true">
            <a:off x="5753174" y="12473937"/>
            <a:ext cx="1056779" cy="0"/>
          </a:xfrm>
          <a:prstGeom prst="line">
            <a:avLst/>
          </a:prstGeom>
          <a:ln cap="flat" w="28575">
            <a:solidFill>
              <a:srgbClr val="000000"/>
            </a:solidFill>
            <a:prstDash val="solid"/>
            <a:headEnd type="none" len="sm" w="sm"/>
            <a:tailEnd type="none" len="sm" w="sm"/>
          </a:ln>
        </p:spPr>
      </p:sp>
      <p:sp>
        <p:nvSpPr>
          <p:cNvPr name="Freeform 30" id="30"/>
          <p:cNvSpPr/>
          <p:nvPr/>
        </p:nvSpPr>
        <p:spPr>
          <a:xfrm flipH="false" flipV="false" rot="0">
            <a:off x="5143358" y="13021503"/>
            <a:ext cx="940042" cy="977585"/>
          </a:xfrm>
          <a:custGeom>
            <a:avLst/>
            <a:gdLst/>
            <a:ahLst/>
            <a:cxnLst/>
            <a:rect r="r" b="b" t="t" l="l"/>
            <a:pathLst>
              <a:path h="977585" w="940042">
                <a:moveTo>
                  <a:pt x="0" y="0"/>
                </a:moveTo>
                <a:lnTo>
                  <a:pt x="940041" y="0"/>
                </a:lnTo>
                <a:lnTo>
                  <a:pt x="940041" y="977585"/>
                </a:lnTo>
                <a:lnTo>
                  <a:pt x="0" y="977585"/>
                </a:lnTo>
                <a:lnTo>
                  <a:pt x="0" y="0"/>
                </a:lnTo>
                <a:close/>
              </a:path>
            </a:pathLst>
          </a:custGeom>
          <a:blipFill>
            <a:blip r:embed="rId3"/>
            <a:stretch>
              <a:fillRect l="-5616" t="0" r="-5616" b="-6960"/>
            </a:stretch>
          </a:blipFill>
        </p:spPr>
      </p:sp>
      <p:sp>
        <p:nvSpPr>
          <p:cNvPr name="Freeform 31" id="31"/>
          <p:cNvSpPr/>
          <p:nvPr/>
        </p:nvSpPr>
        <p:spPr>
          <a:xfrm flipH="false" flipV="false" rot="0">
            <a:off x="3189607" y="13070377"/>
            <a:ext cx="727332" cy="983666"/>
          </a:xfrm>
          <a:custGeom>
            <a:avLst/>
            <a:gdLst/>
            <a:ahLst/>
            <a:cxnLst/>
            <a:rect r="r" b="b" t="t" l="l"/>
            <a:pathLst>
              <a:path h="983666" w="727332">
                <a:moveTo>
                  <a:pt x="0" y="0"/>
                </a:moveTo>
                <a:lnTo>
                  <a:pt x="727332" y="0"/>
                </a:lnTo>
                <a:lnTo>
                  <a:pt x="727332" y="983666"/>
                </a:lnTo>
                <a:lnTo>
                  <a:pt x="0" y="983666"/>
                </a:lnTo>
                <a:lnTo>
                  <a:pt x="0" y="0"/>
                </a:lnTo>
                <a:close/>
              </a:path>
            </a:pathLst>
          </a:custGeom>
          <a:blipFill>
            <a:blip r:embed="rId4"/>
            <a:stretch>
              <a:fillRect l="-28620" t="0" r="-28334" b="0"/>
            </a:stretch>
          </a:blipFill>
        </p:spPr>
      </p:sp>
      <p:sp>
        <p:nvSpPr>
          <p:cNvPr name="Freeform 32" id="32"/>
          <p:cNvSpPr/>
          <p:nvPr/>
        </p:nvSpPr>
        <p:spPr>
          <a:xfrm flipH="false" flipV="false" rot="0">
            <a:off x="4202689" y="13065109"/>
            <a:ext cx="743112" cy="1023218"/>
          </a:xfrm>
          <a:custGeom>
            <a:avLst/>
            <a:gdLst/>
            <a:ahLst/>
            <a:cxnLst/>
            <a:rect r="r" b="b" t="t" l="l"/>
            <a:pathLst>
              <a:path h="1023218" w="743112">
                <a:moveTo>
                  <a:pt x="0" y="0"/>
                </a:moveTo>
                <a:lnTo>
                  <a:pt x="743113" y="0"/>
                </a:lnTo>
                <a:lnTo>
                  <a:pt x="743113" y="1023218"/>
                </a:lnTo>
                <a:lnTo>
                  <a:pt x="0" y="1023218"/>
                </a:lnTo>
                <a:lnTo>
                  <a:pt x="0" y="0"/>
                </a:lnTo>
                <a:close/>
              </a:path>
            </a:pathLst>
          </a:custGeom>
          <a:blipFill>
            <a:blip r:embed="rId5"/>
            <a:stretch>
              <a:fillRect l="0" t="0" r="0" b="0"/>
            </a:stretch>
          </a:blipFill>
        </p:spPr>
      </p:sp>
      <p:sp>
        <p:nvSpPr>
          <p:cNvPr name="Freeform 33" id="33"/>
          <p:cNvSpPr/>
          <p:nvPr/>
        </p:nvSpPr>
        <p:spPr>
          <a:xfrm flipH="false" flipV="false" rot="0">
            <a:off x="6201046" y="13132253"/>
            <a:ext cx="992530" cy="859914"/>
          </a:xfrm>
          <a:custGeom>
            <a:avLst/>
            <a:gdLst/>
            <a:ahLst/>
            <a:cxnLst/>
            <a:rect r="r" b="b" t="t" l="l"/>
            <a:pathLst>
              <a:path h="859914" w="992530">
                <a:moveTo>
                  <a:pt x="0" y="0"/>
                </a:moveTo>
                <a:lnTo>
                  <a:pt x="992531" y="0"/>
                </a:lnTo>
                <a:lnTo>
                  <a:pt x="992531" y="859914"/>
                </a:lnTo>
                <a:lnTo>
                  <a:pt x="0" y="859914"/>
                </a:lnTo>
                <a:lnTo>
                  <a:pt x="0" y="0"/>
                </a:lnTo>
                <a:close/>
              </a:path>
            </a:pathLst>
          </a:custGeom>
          <a:blipFill>
            <a:blip r:embed="rId6"/>
            <a:stretch>
              <a:fillRect l="0" t="-7711" r="0" b="-7711"/>
            </a:stretch>
          </a:blipFill>
        </p:spPr>
      </p:sp>
      <p:sp>
        <p:nvSpPr>
          <p:cNvPr name="Freeform 34" id="34"/>
          <p:cNvSpPr/>
          <p:nvPr/>
        </p:nvSpPr>
        <p:spPr>
          <a:xfrm flipH="false" flipV="false" rot="0">
            <a:off x="6325258" y="14482390"/>
            <a:ext cx="1144642" cy="549722"/>
          </a:xfrm>
          <a:custGeom>
            <a:avLst/>
            <a:gdLst/>
            <a:ahLst/>
            <a:cxnLst/>
            <a:rect r="r" b="b" t="t" l="l"/>
            <a:pathLst>
              <a:path h="549722" w="1144642">
                <a:moveTo>
                  <a:pt x="0" y="0"/>
                </a:moveTo>
                <a:lnTo>
                  <a:pt x="1144643" y="0"/>
                </a:lnTo>
                <a:lnTo>
                  <a:pt x="1144643" y="549722"/>
                </a:lnTo>
                <a:lnTo>
                  <a:pt x="0" y="549722"/>
                </a:lnTo>
                <a:lnTo>
                  <a:pt x="0" y="0"/>
                </a:lnTo>
                <a:close/>
              </a:path>
            </a:pathLst>
          </a:custGeom>
          <a:blipFill>
            <a:blip r:embed="rId7"/>
            <a:stretch>
              <a:fillRect l="-3321" t="-62570" r="-3321" b="-59484"/>
            </a:stretch>
          </a:blipFill>
        </p:spPr>
      </p:sp>
      <p:sp>
        <p:nvSpPr>
          <p:cNvPr name="Freeform 35" id="35"/>
          <p:cNvSpPr/>
          <p:nvPr/>
        </p:nvSpPr>
        <p:spPr>
          <a:xfrm flipH="false" flipV="false" rot="0">
            <a:off x="632162" y="13070377"/>
            <a:ext cx="879838" cy="879838"/>
          </a:xfrm>
          <a:custGeom>
            <a:avLst/>
            <a:gdLst/>
            <a:ahLst/>
            <a:cxnLst/>
            <a:rect r="r" b="b" t="t" l="l"/>
            <a:pathLst>
              <a:path h="879838" w="879838">
                <a:moveTo>
                  <a:pt x="0" y="0"/>
                </a:moveTo>
                <a:lnTo>
                  <a:pt x="879838" y="0"/>
                </a:lnTo>
                <a:lnTo>
                  <a:pt x="879838" y="879838"/>
                </a:lnTo>
                <a:lnTo>
                  <a:pt x="0" y="879838"/>
                </a:lnTo>
                <a:lnTo>
                  <a:pt x="0" y="0"/>
                </a:lnTo>
                <a:close/>
              </a:path>
            </a:pathLst>
          </a:custGeom>
          <a:blipFill>
            <a:blip r:embed="rId8"/>
            <a:stretch>
              <a:fillRect l="0" t="0" r="0" b="0"/>
            </a:stretch>
          </a:blipFill>
        </p:spPr>
      </p:sp>
      <p:sp>
        <p:nvSpPr>
          <p:cNvPr name="Freeform 36" id="36"/>
          <p:cNvSpPr/>
          <p:nvPr/>
        </p:nvSpPr>
        <p:spPr>
          <a:xfrm flipH="false" flipV="false" rot="0">
            <a:off x="1800266" y="13263599"/>
            <a:ext cx="1060755" cy="562200"/>
          </a:xfrm>
          <a:custGeom>
            <a:avLst/>
            <a:gdLst/>
            <a:ahLst/>
            <a:cxnLst/>
            <a:rect r="r" b="b" t="t" l="l"/>
            <a:pathLst>
              <a:path h="562200" w="1060755">
                <a:moveTo>
                  <a:pt x="0" y="0"/>
                </a:moveTo>
                <a:lnTo>
                  <a:pt x="1060756" y="0"/>
                </a:lnTo>
                <a:lnTo>
                  <a:pt x="1060756" y="562200"/>
                </a:lnTo>
                <a:lnTo>
                  <a:pt x="0" y="562200"/>
                </a:lnTo>
                <a:lnTo>
                  <a:pt x="0" y="0"/>
                </a:lnTo>
                <a:close/>
              </a:path>
            </a:pathLst>
          </a:custGeom>
          <a:blipFill>
            <a:blip r:embed="rId9"/>
            <a:stretch>
              <a:fillRect l="0" t="0" r="0" b="0"/>
            </a:stretch>
          </a:blipFill>
        </p:spPr>
      </p:sp>
      <p:grpSp>
        <p:nvGrpSpPr>
          <p:cNvPr name="Group 37" id="37"/>
          <p:cNvGrpSpPr/>
          <p:nvPr/>
        </p:nvGrpSpPr>
        <p:grpSpPr>
          <a:xfrm rot="0">
            <a:off x="7788702" y="18317139"/>
            <a:ext cx="7037409" cy="2766859"/>
            <a:chOff x="0" y="0"/>
            <a:chExt cx="1309440" cy="514826"/>
          </a:xfrm>
        </p:grpSpPr>
        <p:sp>
          <p:nvSpPr>
            <p:cNvPr name="Freeform 38" id="38"/>
            <p:cNvSpPr/>
            <p:nvPr/>
          </p:nvSpPr>
          <p:spPr>
            <a:xfrm flipH="false" flipV="false" rot="0">
              <a:off x="0" y="0"/>
              <a:ext cx="1309441" cy="514826"/>
            </a:xfrm>
            <a:custGeom>
              <a:avLst/>
              <a:gdLst/>
              <a:ahLst/>
              <a:cxnLst/>
              <a:rect r="r" b="b" t="t" l="l"/>
              <a:pathLst>
                <a:path h="514826" w="1309441">
                  <a:moveTo>
                    <a:pt x="0" y="0"/>
                  </a:moveTo>
                  <a:lnTo>
                    <a:pt x="1309441" y="0"/>
                  </a:lnTo>
                  <a:lnTo>
                    <a:pt x="1309441" y="514826"/>
                  </a:lnTo>
                  <a:lnTo>
                    <a:pt x="0" y="514826"/>
                  </a:lnTo>
                  <a:close/>
                </a:path>
              </a:pathLst>
            </a:custGeom>
            <a:solidFill>
              <a:srgbClr val="FFFFFF"/>
            </a:solidFill>
            <a:ln w="47625" cap="sq">
              <a:solidFill>
                <a:srgbClr val="FFFFFF"/>
              </a:solidFill>
              <a:prstDash val="solid"/>
              <a:miter/>
            </a:ln>
          </p:spPr>
        </p:sp>
        <p:sp>
          <p:nvSpPr>
            <p:cNvPr name="TextBox 39" id="39"/>
            <p:cNvSpPr txBox="true"/>
            <p:nvPr/>
          </p:nvSpPr>
          <p:spPr>
            <a:xfrm>
              <a:off x="0" y="-47625"/>
              <a:ext cx="1309440" cy="562451"/>
            </a:xfrm>
            <a:prstGeom prst="rect">
              <a:avLst/>
            </a:prstGeom>
          </p:spPr>
          <p:txBody>
            <a:bodyPr anchor="ctr" rtlCol="false" tIns="44941" lIns="44941" bIns="44941" rIns="44941"/>
            <a:lstStyle/>
            <a:p>
              <a:pPr algn="ctr">
                <a:lnSpc>
                  <a:spcPts val="3839"/>
                </a:lnSpc>
              </a:pPr>
            </a:p>
            <a:p>
              <a:pPr algn="ctr">
                <a:lnSpc>
                  <a:spcPts val="3839"/>
                </a:lnSpc>
              </a:pPr>
            </a:p>
            <a:p>
              <a:pPr algn="ctr">
                <a:lnSpc>
                  <a:spcPts val="3839"/>
                </a:lnSpc>
                <a:spcBef>
                  <a:spcPct val="0"/>
                </a:spcBef>
              </a:pPr>
            </a:p>
          </p:txBody>
        </p:sp>
      </p:grpSp>
      <p:sp>
        <p:nvSpPr>
          <p:cNvPr name="AutoShape 40" id="40"/>
          <p:cNvSpPr/>
          <p:nvPr/>
        </p:nvSpPr>
        <p:spPr>
          <a:xfrm flipH="true">
            <a:off x="4248434" y="4637950"/>
            <a:ext cx="2240291" cy="3757"/>
          </a:xfrm>
          <a:prstGeom prst="line">
            <a:avLst/>
          </a:prstGeom>
          <a:ln cap="flat" w="28575">
            <a:solidFill>
              <a:srgbClr val="000000"/>
            </a:solidFill>
            <a:prstDash val="solid"/>
            <a:headEnd type="none" len="sm" w="sm"/>
            <a:tailEnd type="none" len="sm" w="sm"/>
          </a:ln>
        </p:spPr>
      </p:sp>
      <p:sp>
        <p:nvSpPr>
          <p:cNvPr name="Freeform 41" id="41"/>
          <p:cNvSpPr/>
          <p:nvPr/>
        </p:nvSpPr>
        <p:spPr>
          <a:xfrm flipH="false" flipV="false" rot="0">
            <a:off x="1115565" y="8106502"/>
            <a:ext cx="3738603" cy="3383115"/>
          </a:xfrm>
          <a:custGeom>
            <a:avLst/>
            <a:gdLst/>
            <a:ahLst/>
            <a:cxnLst/>
            <a:rect r="r" b="b" t="t" l="l"/>
            <a:pathLst>
              <a:path h="3383115" w="3738603">
                <a:moveTo>
                  <a:pt x="0" y="0"/>
                </a:moveTo>
                <a:lnTo>
                  <a:pt x="3738604" y="0"/>
                </a:lnTo>
                <a:lnTo>
                  <a:pt x="3738604" y="3383114"/>
                </a:lnTo>
                <a:lnTo>
                  <a:pt x="0" y="3383114"/>
                </a:lnTo>
                <a:lnTo>
                  <a:pt x="0" y="0"/>
                </a:lnTo>
                <a:close/>
              </a:path>
            </a:pathLst>
          </a:custGeom>
          <a:blipFill>
            <a:blip r:embed="rId10"/>
            <a:stretch>
              <a:fillRect l="-1480" t="0" r="-1480" b="-10507"/>
            </a:stretch>
          </a:blipFill>
        </p:spPr>
      </p:sp>
      <p:sp>
        <p:nvSpPr>
          <p:cNvPr name="Freeform 42" id="42"/>
          <p:cNvSpPr/>
          <p:nvPr/>
        </p:nvSpPr>
        <p:spPr>
          <a:xfrm flipH="false" flipV="false" rot="0">
            <a:off x="1375410" y="1281159"/>
            <a:ext cx="1539847" cy="1555190"/>
          </a:xfrm>
          <a:custGeom>
            <a:avLst/>
            <a:gdLst/>
            <a:ahLst/>
            <a:cxnLst/>
            <a:rect r="r" b="b" t="t" l="l"/>
            <a:pathLst>
              <a:path h="1555190" w="1539847">
                <a:moveTo>
                  <a:pt x="0" y="0"/>
                </a:moveTo>
                <a:lnTo>
                  <a:pt x="1539847" y="0"/>
                </a:lnTo>
                <a:lnTo>
                  <a:pt x="1539847" y="1555189"/>
                </a:lnTo>
                <a:lnTo>
                  <a:pt x="0" y="1555189"/>
                </a:lnTo>
                <a:lnTo>
                  <a:pt x="0" y="0"/>
                </a:lnTo>
                <a:close/>
              </a:path>
            </a:pathLst>
          </a:custGeom>
          <a:blipFill>
            <a:blip r:embed="rId11"/>
            <a:stretch>
              <a:fillRect l="-56372" t="-6514" r="-55714" b="-7997"/>
            </a:stretch>
          </a:blipFill>
        </p:spPr>
      </p:sp>
      <p:sp>
        <p:nvSpPr>
          <p:cNvPr name="AutoShape 43" id="43"/>
          <p:cNvSpPr/>
          <p:nvPr/>
        </p:nvSpPr>
        <p:spPr>
          <a:xfrm flipH="true" flipV="true">
            <a:off x="5559149" y="1211679"/>
            <a:ext cx="2390138" cy="14287"/>
          </a:xfrm>
          <a:prstGeom prst="line">
            <a:avLst/>
          </a:prstGeom>
          <a:ln cap="flat" w="28575">
            <a:solidFill>
              <a:srgbClr val="000000"/>
            </a:solidFill>
            <a:prstDash val="solid"/>
            <a:headEnd type="none" len="sm" w="sm"/>
            <a:tailEnd type="none" len="sm" w="sm"/>
          </a:ln>
        </p:spPr>
      </p:sp>
      <p:sp>
        <p:nvSpPr>
          <p:cNvPr name="Freeform 44" id="44"/>
          <p:cNvSpPr/>
          <p:nvPr/>
        </p:nvSpPr>
        <p:spPr>
          <a:xfrm flipH="false" flipV="false" rot="0">
            <a:off x="6657031" y="17434582"/>
            <a:ext cx="718164" cy="739682"/>
          </a:xfrm>
          <a:custGeom>
            <a:avLst/>
            <a:gdLst/>
            <a:ahLst/>
            <a:cxnLst/>
            <a:rect r="r" b="b" t="t" l="l"/>
            <a:pathLst>
              <a:path h="739682" w="718164">
                <a:moveTo>
                  <a:pt x="0" y="0"/>
                </a:moveTo>
                <a:lnTo>
                  <a:pt x="718164" y="0"/>
                </a:lnTo>
                <a:lnTo>
                  <a:pt x="718164" y="739682"/>
                </a:lnTo>
                <a:lnTo>
                  <a:pt x="0" y="739682"/>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5" id="45"/>
          <p:cNvSpPr/>
          <p:nvPr/>
        </p:nvSpPr>
        <p:spPr>
          <a:xfrm flipH="false" flipV="false" rot="0">
            <a:off x="13877415" y="12388372"/>
            <a:ext cx="698833" cy="696292"/>
          </a:xfrm>
          <a:custGeom>
            <a:avLst/>
            <a:gdLst/>
            <a:ahLst/>
            <a:cxnLst/>
            <a:rect r="r" b="b" t="t" l="l"/>
            <a:pathLst>
              <a:path h="696292" w="698833">
                <a:moveTo>
                  <a:pt x="0" y="0"/>
                </a:moveTo>
                <a:lnTo>
                  <a:pt x="698833" y="0"/>
                </a:lnTo>
                <a:lnTo>
                  <a:pt x="698833" y="696292"/>
                </a:lnTo>
                <a:lnTo>
                  <a:pt x="0" y="696292"/>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46" id="46"/>
          <p:cNvSpPr/>
          <p:nvPr/>
        </p:nvSpPr>
        <p:spPr>
          <a:xfrm flipH="false" flipV="false" rot="0">
            <a:off x="13599148" y="18440820"/>
            <a:ext cx="879943" cy="791949"/>
          </a:xfrm>
          <a:custGeom>
            <a:avLst/>
            <a:gdLst/>
            <a:ahLst/>
            <a:cxnLst/>
            <a:rect r="r" b="b" t="t" l="l"/>
            <a:pathLst>
              <a:path h="791949" w="879943">
                <a:moveTo>
                  <a:pt x="0" y="0"/>
                </a:moveTo>
                <a:lnTo>
                  <a:pt x="879943" y="0"/>
                </a:lnTo>
                <a:lnTo>
                  <a:pt x="879943" y="791949"/>
                </a:lnTo>
                <a:lnTo>
                  <a:pt x="0" y="791949"/>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47" id="47"/>
          <p:cNvSpPr/>
          <p:nvPr/>
        </p:nvSpPr>
        <p:spPr>
          <a:xfrm flipH="false" flipV="false" rot="0">
            <a:off x="13929797" y="8004343"/>
            <a:ext cx="689698" cy="751156"/>
          </a:xfrm>
          <a:custGeom>
            <a:avLst/>
            <a:gdLst/>
            <a:ahLst/>
            <a:cxnLst/>
            <a:rect r="r" b="b" t="t" l="l"/>
            <a:pathLst>
              <a:path h="751156" w="689698">
                <a:moveTo>
                  <a:pt x="0" y="0"/>
                </a:moveTo>
                <a:lnTo>
                  <a:pt x="689698" y="0"/>
                </a:lnTo>
                <a:lnTo>
                  <a:pt x="689698" y="751156"/>
                </a:lnTo>
                <a:lnTo>
                  <a:pt x="0" y="751156"/>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48" id="48"/>
          <p:cNvSpPr/>
          <p:nvPr/>
        </p:nvSpPr>
        <p:spPr>
          <a:xfrm flipH="false" flipV="false" rot="0">
            <a:off x="7003657" y="12104350"/>
            <a:ext cx="507831" cy="521095"/>
          </a:xfrm>
          <a:custGeom>
            <a:avLst/>
            <a:gdLst/>
            <a:ahLst/>
            <a:cxnLst/>
            <a:rect r="r" b="b" t="t" l="l"/>
            <a:pathLst>
              <a:path h="521095" w="507831">
                <a:moveTo>
                  <a:pt x="0" y="0"/>
                </a:moveTo>
                <a:lnTo>
                  <a:pt x="507831" y="0"/>
                </a:lnTo>
                <a:lnTo>
                  <a:pt x="507831" y="521096"/>
                </a:lnTo>
                <a:lnTo>
                  <a:pt x="0" y="521096"/>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49" id="49"/>
          <p:cNvSpPr/>
          <p:nvPr/>
        </p:nvSpPr>
        <p:spPr>
          <a:xfrm flipH="false" flipV="false" rot="0">
            <a:off x="13877415" y="3984282"/>
            <a:ext cx="769844" cy="653668"/>
          </a:xfrm>
          <a:custGeom>
            <a:avLst/>
            <a:gdLst/>
            <a:ahLst/>
            <a:cxnLst/>
            <a:rect r="r" b="b" t="t" l="l"/>
            <a:pathLst>
              <a:path h="653668" w="769844">
                <a:moveTo>
                  <a:pt x="0" y="0"/>
                </a:moveTo>
                <a:lnTo>
                  <a:pt x="769845" y="0"/>
                </a:lnTo>
                <a:lnTo>
                  <a:pt x="769845" y="653668"/>
                </a:lnTo>
                <a:lnTo>
                  <a:pt x="0" y="653668"/>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50" id="50"/>
          <p:cNvSpPr/>
          <p:nvPr/>
        </p:nvSpPr>
        <p:spPr>
          <a:xfrm flipH="false" flipV="false" rot="0">
            <a:off x="6767572" y="4021684"/>
            <a:ext cx="607623" cy="620023"/>
          </a:xfrm>
          <a:custGeom>
            <a:avLst/>
            <a:gdLst/>
            <a:ahLst/>
            <a:cxnLst/>
            <a:rect r="r" b="b" t="t" l="l"/>
            <a:pathLst>
              <a:path h="620023" w="607623">
                <a:moveTo>
                  <a:pt x="0" y="0"/>
                </a:moveTo>
                <a:lnTo>
                  <a:pt x="607623" y="0"/>
                </a:lnTo>
                <a:lnTo>
                  <a:pt x="607623" y="620024"/>
                </a:lnTo>
                <a:lnTo>
                  <a:pt x="0" y="62002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51" id="51"/>
          <p:cNvSpPr/>
          <p:nvPr/>
        </p:nvSpPr>
        <p:spPr>
          <a:xfrm flipH="false" flipV="false" rot="0">
            <a:off x="7950583" y="426144"/>
            <a:ext cx="809669" cy="814110"/>
          </a:xfrm>
          <a:custGeom>
            <a:avLst/>
            <a:gdLst/>
            <a:ahLst/>
            <a:cxnLst/>
            <a:rect r="r" b="b" t="t" l="l"/>
            <a:pathLst>
              <a:path h="814110" w="809669">
                <a:moveTo>
                  <a:pt x="0" y="0"/>
                </a:moveTo>
                <a:lnTo>
                  <a:pt x="809669" y="0"/>
                </a:lnTo>
                <a:lnTo>
                  <a:pt x="809669" y="814110"/>
                </a:lnTo>
                <a:lnTo>
                  <a:pt x="0" y="814110"/>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52" id="52"/>
          <p:cNvSpPr/>
          <p:nvPr/>
        </p:nvSpPr>
        <p:spPr>
          <a:xfrm flipH="false" flipV="false" rot="0">
            <a:off x="1967064" y="14453727"/>
            <a:ext cx="1497850" cy="578385"/>
          </a:xfrm>
          <a:custGeom>
            <a:avLst/>
            <a:gdLst/>
            <a:ahLst/>
            <a:cxnLst/>
            <a:rect r="r" b="b" t="t" l="l"/>
            <a:pathLst>
              <a:path h="578385" w="1497850">
                <a:moveTo>
                  <a:pt x="0" y="0"/>
                </a:moveTo>
                <a:lnTo>
                  <a:pt x="1497850" y="0"/>
                </a:lnTo>
                <a:lnTo>
                  <a:pt x="1497850" y="578385"/>
                </a:lnTo>
                <a:lnTo>
                  <a:pt x="0" y="578385"/>
                </a:lnTo>
                <a:lnTo>
                  <a:pt x="0" y="0"/>
                </a:lnTo>
                <a:close/>
              </a:path>
            </a:pathLst>
          </a:custGeom>
          <a:blipFill>
            <a:blip r:embed="rId28"/>
            <a:stretch>
              <a:fillRect l="-3261" t="0" r="-3261" b="0"/>
            </a:stretch>
          </a:blipFill>
        </p:spPr>
      </p:sp>
      <p:sp>
        <p:nvSpPr>
          <p:cNvPr name="Freeform 53" id="53"/>
          <p:cNvSpPr/>
          <p:nvPr/>
        </p:nvSpPr>
        <p:spPr>
          <a:xfrm flipH="false" flipV="false" rot="0">
            <a:off x="5033509" y="14483606"/>
            <a:ext cx="1086921" cy="493249"/>
          </a:xfrm>
          <a:custGeom>
            <a:avLst/>
            <a:gdLst/>
            <a:ahLst/>
            <a:cxnLst/>
            <a:rect r="r" b="b" t="t" l="l"/>
            <a:pathLst>
              <a:path h="493249" w="1086921">
                <a:moveTo>
                  <a:pt x="0" y="0"/>
                </a:moveTo>
                <a:lnTo>
                  <a:pt x="1086921" y="0"/>
                </a:lnTo>
                <a:lnTo>
                  <a:pt x="1086921" y="493250"/>
                </a:lnTo>
                <a:lnTo>
                  <a:pt x="0" y="493250"/>
                </a:lnTo>
                <a:lnTo>
                  <a:pt x="0" y="0"/>
                </a:lnTo>
                <a:close/>
              </a:path>
            </a:pathLst>
          </a:custGeom>
          <a:blipFill>
            <a:blip r:embed="rId29"/>
            <a:stretch>
              <a:fillRect l="0" t="0" r="0" b="0"/>
            </a:stretch>
          </a:blipFill>
        </p:spPr>
      </p:sp>
      <p:sp>
        <p:nvSpPr>
          <p:cNvPr name="Freeform 54" id="54"/>
          <p:cNvSpPr/>
          <p:nvPr/>
        </p:nvSpPr>
        <p:spPr>
          <a:xfrm flipH="false" flipV="false" rot="0">
            <a:off x="375823" y="14436811"/>
            <a:ext cx="1424444" cy="595301"/>
          </a:xfrm>
          <a:custGeom>
            <a:avLst/>
            <a:gdLst/>
            <a:ahLst/>
            <a:cxnLst/>
            <a:rect r="r" b="b" t="t" l="l"/>
            <a:pathLst>
              <a:path h="595301" w="1424444">
                <a:moveTo>
                  <a:pt x="0" y="0"/>
                </a:moveTo>
                <a:lnTo>
                  <a:pt x="1424443" y="0"/>
                </a:lnTo>
                <a:lnTo>
                  <a:pt x="1424443" y="595301"/>
                </a:lnTo>
                <a:lnTo>
                  <a:pt x="0" y="595301"/>
                </a:lnTo>
                <a:lnTo>
                  <a:pt x="0" y="0"/>
                </a:lnTo>
                <a:close/>
              </a:path>
            </a:pathLst>
          </a:custGeom>
          <a:blipFill>
            <a:blip r:embed="rId30"/>
            <a:stretch>
              <a:fillRect l="0" t="0" r="0" b="-2292"/>
            </a:stretch>
          </a:blipFill>
        </p:spPr>
      </p:sp>
      <p:sp>
        <p:nvSpPr>
          <p:cNvPr name="Freeform 55" id="55"/>
          <p:cNvSpPr/>
          <p:nvPr/>
        </p:nvSpPr>
        <p:spPr>
          <a:xfrm flipH="false" flipV="false" rot="0">
            <a:off x="1470515" y="15327416"/>
            <a:ext cx="1194184" cy="884448"/>
          </a:xfrm>
          <a:custGeom>
            <a:avLst/>
            <a:gdLst/>
            <a:ahLst/>
            <a:cxnLst/>
            <a:rect r="r" b="b" t="t" l="l"/>
            <a:pathLst>
              <a:path h="884448" w="1194184">
                <a:moveTo>
                  <a:pt x="0" y="0"/>
                </a:moveTo>
                <a:lnTo>
                  <a:pt x="1194184" y="0"/>
                </a:lnTo>
                <a:lnTo>
                  <a:pt x="1194184" y="884447"/>
                </a:lnTo>
                <a:lnTo>
                  <a:pt x="0" y="884447"/>
                </a:lnTo>
                <a:lnTo>
                  <a:pt x="0" y="0"/>
                </a:lnTo>
                <a:close/>
              </a:path>
            </a:pathLst>
          </a:custGeom>
          <a:blipFill>
            <a:blip r:embed="rId31"/>
            <a:stretch>
              <a:fillRect l="-339" t="-8853" r="-339" b="-12253"/>
            </a:stretch>
          </a:blipFill>
        </p:spPr>
      </p:sp>
      <p:sp>
        <p:nvSpPr>
          <p:cNvPr name="Freeform 56" id="56"/>
          <p:cNvSpPr/>
          <p:nvPr/>
        </p:nvSpPr>
        <p:spPr>
          <a:xfrm flipH="false" flipV="false" rot="0">
            <a:off x="5869638" y="15442556"/>
            <a:ext cx="911240" cy="897571"/>
          </a:xfrm>
          <a:custGeom>
            <a:avLst/>
            <a:gdLst/>
            <a:ahLst/>
            <a:cxnLst/>
            <a:rect r="r" b="b" t="t" l="l"/>
            <a:pathLst>
              <a:path h="897571" w="911240">
                <a:moveTo>
                  <a:pt x="0" y="0"/>
                </a:moveTo>
                <a:lnTo>
                  <a:pt x="911240" y="0"/>
                </a:lnTo>
                <a:lnTo>
                  <a:pt x="911240" y="897571"/>
                </a:lnTo>
                <a:lnTo>
                  <a:pt x="0" y="897571"/>
                </a:lnTo>
                <a:lnTo>
                  <a:pt x="0" y="0"/>
                </a:lnTo>
                <a:close/>
              </a:path>
            </a:pathLst>
          </a:custGeom>
          <a:blipFill>
            <a:blip r:embed="rId32"/>
            <a:stretch>
              <a:fillRect l="0" t="0" r="0" b="0"/>
            </a:stretch>
          </a:blipFill>
        </p:spPr>
      </p:sp>
      <p:sp>
        <p:nvSpPr>
          <p:cNvPr name="Freeform 57" id="57"/>
          <p:cNvSpPr/>
          <p:nvPr/>
        </p:nvSpPr>
        <p:spPr>
          <a:xfrm flipH="false" flipV="false" rot="0">
            <a:off x="3636249" y="15401868"/>
            <a:ext cx="1132880" cy="874923"/>
          </a:xfrm>
          <a:custGeom>
            <a:avLst/>
            <a:gdLst/>
            <a:ahLst/>
            <a:cxnLst/>
            <a:rect r="r" b="b" t="t" l="l"/>
            <a:pathLst>
              <a:path h="874923" w="1132880">
                <a:moveTo>
                  <a:pt x="0" y="0"/>
                </a:moveTo>
                <a:lnTo>
                  <a:pt x="1132881" y="0"/>
                </a:lnTo>
                <a:lnTo>
                  <a:pt x="1132881" y="874922"/>
                </a:lnTo>
                <a:lnTo>
                  <a:pt x="0" y="874922"/>
                </a:lnTo>
                <a:lnTo>
                  <a:pt x="0" y="0"/>
                </a:lnTo>
                <a:close/>
              </a:path>
            </a:pathLst>
          </a:custGeom>
          <a:blipFill>
            <a:blip r:embed="rId33"/>
            <a:stretch>
              <a:fillRect l="-7188" t="-14337" r="-5025" b="-30960"/>
            </a:stretch>
          </a:blipFill>
        </p:spPr>
      </p:sp>
      <p:sp>
        <p:nvSpPr>
          <p:cNvPr name="Freeform 58" id="58"/>
          <p:cNvSpPr/>
          <p:nvPr/>
        </p:nvSpPr>
        <p:spPr>
          <a:xfrm flipH="false" flipV="false" rot="0">
            <a:off x="3583866" y="14420773"/>
            <a:ext cx="1361936" cy="672956"/>
          </a:xfrm>
          <a:custGeom>
            <a:avLst/>
            <a:gdLst/>
            <a:ahLst/>
            <a:cxnLst/>
            <a:rect r="r" b="b" t="t" l="l"/>
            <a:pathLst>
              <a:path h="672956" w="1361936">
                <a:moveTo>
                  <a:pt x="0" y="0"/>
                </a:moveTo>
                <a:lnTo>
                  <a:pt x="1361936" y="0"/>
                </a:lnTo>
                <a:lnTo>
                  <a:pt x="1361936" y="672956"/>
                </a:lnTo>
                <a:lnTo>
                  <a:pt x="0" y="672956"/>
                </a:lnTo>
                <a:lnTo>
                  <a:pt x="0" y="0"/>
                </a:lnTo>
                <a:close/>
              </a:path>
            </a:pathLst>
          </a:custGeom>
          <a:blipFill>
            <a:blip r:embed="rId34"/>
            <a:stretch>
              <a:fillRect l="0" t="0" r="0" b="0"/>
            </a:stretch>
          </a:blipFill>
        </p:spPr>
      </p:sp>
      <p:sp>
        <p:nvSpPr>
          <p:cNvPr name="Freeform 59" id="59"/>
          <p:cNvSpPr/>
          <p:nvPr/>
        </p:nvSpPr>
        <p:spPr>
          <a:xfrm flipH="false" flipV="false" rot="0">
            <a:off x="2145333" y="4922695"/>
            <a:ext cx="4713483" cy="3493869"/>
          </a:xfrm>
          <a:custGeom>
            <a:avLst/>
            <a:gdLst/>
            <a:ahLst/>
            <a:cxnLst/>
            <a:rect r="r" b="b" t="t" l="l"/>
            <a:pathLst>
              <a:path h="3493869" w="4713483">
                <a:moveTo>
                  <a:pt x="0" y="0"/>
                </a:moveTo>
                <a:lnTo>
                  <a:pt x="4713483" y="0"/>
                </a:lnTo>
                <a:lnTo>
                  <a:pt x="4713483" y="3493869"/>
                </a:lnTo>
                <a:lnTo>
                  <a:pt x="0" y="3493869"/>
                </a:lnTo>
                <a:lnTo>
                  <a:pt x="0" y="0"/>
                </a:lnTo>
                <a:close/>
              </a:path>
            </a:pathLst>
          </a:custGeom>
          <a:blipFill>
            <a:blip r:embed="rId35"/>
            <a:stretch>
              <a:fillRect l="0" t="0" r="0" b="0"/>
            </a:stretch>
          </a:blipFill>
        </p:spPr>
      </p:sp>
      <p:sp>
        <p:nvSpPr>
          <p:cNvPr name="TextBox 60" id="60"/>
          <p:cNvSpPr txBox="true"/>
          <p:nvPr/>
        </p:nvSpPr>
        <p:spPr>
          <a:xfrm rot="0">
            <a:off x="2577797" y="1649829"/>
            <a:ext cx="6350755" cy="1144496"/>
          </a:xfrm>
          <a:prstGeom prst="rect">
            <a:avLst/>
          </a:prstGeom>
        </p:spPr>
        <p:txBody>
          <a:bodyPr anchor="t" rtlCol="false" tIns="0" lIns="0" bIns="0" rIns="0">
            <a:spAutoFit/>
          </a:bodyPr>
          <a:lstStyle/>
          <a:p>
            <a:pPr algn="ctr">
              <a:lnSpc>
                <a:spcPts val="9302"/>
              </a:lnSpc>
            </a:pPr>
            <a:r>
              <a:rPr lang="en-US" sz="6644">
                <a:solidFill>
                  <a:srgbClr val="000000"/>
                </a:solidFill>
                <a:latin typeface="Tahoma"/>
                <a:ea typeface="Tahoma"/>
                <a:cs typeface="Tahoma"/>
                <a:sym typeface="Tahoma"/>
              </a:rPr>
              <a:t>SmarScan MS</a:t>
            </a:r>
          </a:p>
        </p:txBody>
      </p:sp>
      <p:sp>
        <p:nvSpPr>
          <p:cNvPr name="TextBox 61" id="61"/>
          <p:cNvSpPr txBox="true"/>
          <p:nvPr/>
        </p:nvSpPr>
        <p:spPr>
          <a:xfrm rot="0">
            <a:off x="8251649" y="4584558"/>
            <a:ext cx="6010689" cy="2764911"/>
          </a:xfrm>
          <a:prstGeom prst="rect">
            <a:avLst/>
          </a:prstGeom>
        </p:spPr>
        <p:txBody>
          <a:bodyPr anchor="t" rtlCol="false" tIns="0" lIns="0" bIns="0" rIns="0">
            <a:spAutoFit/>
          </a:bodyPr>
          <a:lstStyle/>
          <a:p>
            <a:pPr algn="r" rtl="true">
              <a:lnSpc>
                <a:spcPts val="3166"/>
              </a:lnSpc>
            </a:pPr>
            <a:r>
              <a:rPr lang="ar-EG" sz="2261">
                <a:solidFill>
                  <a:srgbClr val="000000"/>
                </a:solidFill>
                <a:latin typeface="Almarai"/>
                <a:ea typeface="Almarai"/>
                <a:cs typeface="Almarai"/>
                <a:sym typeface="Almarai"/>
                <a:rtl val="true"/>
              </a:rPr>
              <a:t>يعد مرض التصلب اللويحي من الأمراض العصبية التي تستوجب تشخيصًا دقيقًا ومبكرًا ، غير أن المنظومة الصحيه الحالية تواجه تحديات عدة أبرزها: بطء عملية التشخيص، احتمالية الخطأ البشري، التأخر في الكشف المبكر ومحدودية الكوادر الطبية المختصة </a:t>
            </a:r>
          </a:p>
          <a:p>
            <a:pPr algn="r" rtl="true">
              <a:lnSpc>
                <a:spcPts val="3166"/>
              </a:lnSpc>
            </a:pPr>
            <a:r>
              <a:rPr lang="ar-EG" sz="2261">
                <a:solidFill>
                  <a:srgbClr val="000000"/>
                </a:solidFill>
                <a:latin typeface="Almarai"/>
                <a:ea typeface="Almarai"/>
                <a:cs typeface="Almarai"/>
                <a:sym typeface="Almarai"/>
                <a:rtl val="true"/>
              </a:rPr>
              <a:t>مما يستدعي توظيف تقنيات الذكاء الاصطناعي لدعم وتسريع عملية التشخيص</a:t>
            </a:r>
          </a:p>
        </p:txBody>
      </p:sp>
      <p:sp>
        <p:nvSpPr>
          <p:cNvPr name="TextBox 62" id="62"/>
          <p:cNvSpPr txBox="true"/>
          <p:nvPr/>
        </p:nvSpPr>
        <p:spPr>
          <a:xfrm rot="0">
            <a:off x="11537652" y="3974059"/>
            <a:ext cx="2070348" cy="405765"/>
          </a:xfrm>
          <a:prstGeom prst="rect">
            <a:avLst/>
          </a:prstGeom>
        </p:spPr>
        <p:txBody>
          <a:bodyPr anchor="t" rtlCol="false" tIns="0" lIns="0" bIns="0" rIns="0">
            <a:spAutoFit/>
          </a:bodyPr>
          <a:lstStyle/>
          <a:p>
            <a:pPr algn="ctr" rtl="true">
              <a:lnSpc>
                <a:spcPts val="3359"/>
              </a:lnSpc>
              <a:spcBef>
                <a:spcPct val="0"/>
              </a:spcBef>
            </a:pPr>
            <a:r>
              <a:rPr lang="ar-EG" b="true" sz="2400">
                <a:solidFill>
                  <a:srgbClr val="000000"/>
                </a:solidFill>
                <a:latin typeface="Almarai Bold"/>
                <a:ea typeface="Almarai Bold"/>
                <a:cs typeface="Almarai Bold"/>
                <a:sym typeface="Almarai Bold"/>
                <a:rtl val="true"/>
              </a:rPr>
              <a:t>تعريف المشكلة</a:t>
            </a:r>
          </a:p>
        </p:txBody>
      </p:sp>
      <p:sp>
        <p:nvSpPr>
          <p:cNvPr name="TextBox 63" id="63"/>
          <p:cNvSpPr txBox="true"/>
          <p:nvPr/>
        </p:nvSpPr>
        <p:spPr>
          <a:xfrm rot="0">
            <a:off x="12001967" y="12509823"/>
            <a:ext cx="1688902" cy="405765"/>
          </a:xfrm>
          <a:prstGeom prst="rect">
            <a:avLst/>
          </a:prstGeom>
        </p:spPr>
        <p:txBody>
          <a:bodyPr anchor="t" rtlCol="false" tIns="0" lIns="0" bIns="0" rIns="0">
            <a:spAutoFit/>
          </a:bodyPr>
          <a:lstStyle/>
          <a:p>
            <a:pPr algn="ctr" rtl="true">
              <a:lnSpc>
                <a:spcPts val="3359"/>
              </a:lnSpc>
              <a:spcBef>
                <a:spcPct val="0"/>
              </a:spcBef>
            </a:pPr>
            <a:r>
              <a:rPr lang="ar-EG" b="true" sz="2400">
                <a:solidFill>
                  <a:srgbClr val="000000"/>
                </a:solidFill>
                <a:latin typeface="Almarai Bold"/>
                <a:ea typeface="Almarai Bold"/>
                <a:cs typeface="Almarai Bold"/>
                <a:sym typeface="Almarai Bold"/>
                <a:rtl val="true"/>
              </a:rPr>
              <a:t>وصف الإبتكار</a:t>
            </a:r>
          </a:p>
        </p:txBody>
      </p:sp>
      <p:sp>
        <p:nvSpPr>
          <p:cNvPr name="TextBox 64" id="64"/>
          <p:cNvSpPr txBox="true"/>
          <p:nvPr/>
        </p:nvSpPr>
        <p:spPr>
          <a:xfrm rot="0">
            <a:off x="8964047" y="8869799"/>
            <a:ext cx="5298291" cy="2619817"/>
          </a:xfrm>
          <a:prstGeom prst="rect">
            <a:avLst/>
          </a:prstGeom>
        </p:spPr>
        <p:txBody>
          <a:bodyPr anchor="t" rtlCol="false" tIns="0" lIns="0" bIns="0" rIns="0">
            <a:spAutoFit/>
          </a:bodyPr>
          <a:lstStyle/>
          <a:p>
            <a:pPr algn="r" rtl="true">
              <a:lnSpc>
                <a:spcPts val="3508"/>
              </a:lnSpc>
            </a:pPr>
            <a:r>
              <a:rPr lang="ar-EG" sz="2505">
                <a:solidFill>
                  <a:srgbClr val="000000"/>
                </a:solidFill>
                <a:latin typeface="Almarai"/>
                <a:ea typeface="Almarai"/>
                <a:cs typeface="Almarai"/>
                <a:sym typeface="Almarai"/>
                <a:rtl val="true"/>
              </a:rPr>
              <a:t>نظام ذكي مدمج يعتمد على تقنيات الذكاء الاصطناعي وجهاز </a:t>
            </a:r>
            <a:r>
              <a:rPr lang="en-US" sz="2505">
                <a:solidFill>
                  <a:srgbClr val="000000"/>
                </a:solidFill>
                <a:latin typeface="Almarai"/>
                <a:ea typeface="Almarai"/>
                <a:cs typeface="Almarai"/>
                <a:sym typeface="Almarai"/>
              </a:rPr>
              <a:t>Raspberry pi 5</a:t>
            </a:r>
            <a:r>
              <a:rPr lang="ar-EG" sz="2505">
                <a:solidFill>
                  <a:srgbClr val="000000"/>
                </a:solidFill>
                <a:latin typeface="Almarai"/>
                <a:ea typeface="Almarai"/>
                <a:cs typeface="Almarai"/>
                <a:sym typeface="Almarai"/>
                <a:rtl val="true"/>
              </a:rPr>
              <a:t> لتحليل صور الرنين المغناطيسي والكشف المبكر عن مرض التصلب اللويحي المتعدد، مدعومًا بلوحة تحكم لإداره بيانات المرضى ومتابعة نتائج التشخيص </a:t>
            </a:r>
          </a:p>
        </p:txBody>
      </p:sp>
      <p:sp>
        <p:nvSpPr>
          <p:cNvPr name="TextBox 65" id="65"/>
          <p:cNvSpPr txBox="true"/>
          <p:nvPr/>
        </p:nvSpPr>
        <p:spPr>
          <a:xfrm rot="0">
            <a:off x="12199461" y="8099593"/>
            <a:ext cx="1491407" cy="405765"/>
          </a:xfrm>
          <a:prstGeom prst="rect">
            <a:avLst/>
          </a:prstGeom>
        </p:spPr>
        <p:txBody>
          <a:bodyPr anchor="t" rtlCol="false" tIns="0" lIns="0" bIns="0" rIns="0">
            <a:spAutoFit/>
          </a:bodyPr>
          <a:lstStyle/>
          <a:p>
            <a:pPr algn="ctr" rtl="true">
              <a:lnSpc>
                <a:spcPts val="3359"/>
              </a:lnSpc>
              <a:spcBef>
                <a:spcPct val="0"/>
              </a:spcBef>
            </a:pPr>
            <a:r>
              <a:rPr lang="ar-EG" b="true" sz="2400">
                <a:solidFill>
                  <a:srgbClr val="000000"/>
                </a:solidFill>
                <a:latin typeface="Almarai Bold"/>
                <a:ea typeface="Almarai Bold"/>
                <a:cs typeface="Almarai Bold"/>
                <a:sym typeface="Almarai Bold"/>
                <a:rtl val="true"/>
              </a:rPr>
              <a:t>مزايا الإبتكار</a:t>
            </a:r>
          </a:p>
        </p:txBody>
      </p:sp>
      <p:sp>
        <p:nvSpPr>
          <p:cNvPr name="TextBox 66" id="66"/>
          <p:cNvSpPr txBox="true"/>
          <p:nvPr/>
        </p:nvSpPr>
        <p:spPr>
          <a:xfrm rot="0">
            <a:off x="8419069" y="13379939"/>
            <a:ext cx="6060022" cy="3454444"/>
          </a:xfrm>
          <a:prstGeom prst="rect">
            <a:avLst/>
          </a:prstGeom>
        </p:spPr>
        <p:txBody>
          <a:bodyPr anchor="t" rtlCol="false" tIns="0" lIns="0" bIns="0" rIns="0">
            <a:spAutoFit/>
          </a:bodyPr>
          <a:lstStyle/>
          <a:p>
            <a:pPr algn="r" rtl="true" marL="427758" indent="-213879" lvl="1">
              <a:lnSpc>
                <a:spcPts val="2773"/>
              </a:lnSpc>
              <a:buFont typeface="Arial"/>
              <a:buChar char="•"/>
            </a:pPr>
            <a:r>
              <a:rPr lang="ar-EG" b="true" sz="1981">
                <a:solidFill>
                  <a:srgbClr val="000000"/>
                </a:solidFill>
                <a:latin typeface="Almarai Bold"/>
                <a:ea typeface="Almarai Bold"/>
                <a:cs typeface="Almarai Bold"/>
                <a:sym typeface="Almarai Bold"/>
                <a:rtl val="true"/>
              </a:rPr>
              <a:t>الدقه والموضوعية </a:t>
            </a:r>
            <a:r>
              <a:rPr lang="ar-EG" sz="1981">
                <a:solidFill>
                  <a:srgbClr val="000000"/>
                </a:solidFill>
                <a:latin typeface="Almarai"/>
                <a:ea typeface="Almarai"/>
                <a:cs typeface="Almarai"/>
                <a:sym typeface="Almarai"/>
                <a:rtl val="true"/>
              </a:rPr>
              <a:t> تقليل نسبه الخطأ البشري في التشخيص</a:t>
            </a:r>
          </a:p>
          <a:p>
            <a:pPr algn="r" rtl="true" marL="427758" indent="-213879" lvl="1">
              <a:lnSpc>
                <a:spcPts val="2773"/>
              </a:lnSpc>
              <a:buFont typeface="Arial"/>
              <a:buChar char="•"/>
            </a:pPr>
            <a:r>
              <a:rPr lang="ar-EG" b="true" sz="1981">
                <a:solidFill>
                  <a:srgbClr val="000000"/>
                </a:solidFill>
                <a:latin typeface="Almarai Bold"/>
                <a:ea typeface="Almarai Bold"/>
                <a:cs typeface="Almarai Bold"/>
                <a:sym typeface="Almarai Bold"/>
                <a:rtl val="true"/>
              </a:rPr>
              <a:t>السرعة </a:t>
            </a:r>
            <a:r>
              <a:rPr lang="ar-EG" sz="1981">
                <a:solidFill>
                  <a:srgbClr val="000000"/>
                </a:solidFill>
                <a:latin typeface="Almarai"/>
                <a:ea typeface="Almarai"/>
                <a:cs typeface="Almarai"/>
                <a:sym typeface="Almarai"/>
                <a:rtl val="true"/>
              </a:rPr>
              <a:t> تحليل صور الرنين المغناطيسي في وقت قصير</a:t>
            </a:r>
          </a:p>
          <a:p>
            <a:pPr algn="r" rtl="true" marL="427758" indent="-213879" lvl="1">
              <a:lnSpc>
                <a:spcPts val="2773"/>
              </a:lnSpc>
              <a:buFont typeface="Arial"/>
              <a:buChar char="•"/>
            </a:pPr>
            <a:r>
              <a:rPr lang="ar-EG" b="true" sz="1981">
                <a:solidFill>
                  <a:srgbClr val="000000"/>
                </a:solidFill>
                <a:latin typeface="Almarai Bold"/>
                <a:ea typeface="Almarai Bold"/>
                <a:cs typeface="Almarai Bold"/>
                <a:sym typeface="Almarai Bold"/>
                <a:rtl val="true"/>
              </a:rPr>
              <a:t>الكشف المبكر </a:t>
            </a:r>
            <a:r>
              <a:rPr lang="ar-EG" sz="1981">
                <a:solidFill>
                  <a:srgbClr val="000000"/>
                </a:solidFill>
                <a:latin typeface="Almarai"/>
                <a:ea typeface="Almarai"/>
                <a:cs typeface="Almarai"/>
                <a:sym typeface="Almarai"/>
                <a:rtl val="true"/>
              </a:rPr>
              <a:t>اكتشاف المرض في مراحلة الاولى</a:t>
            </a:r>
          </a:p>
          <a:p>
            <a:pPr algn="r" rtl="true" marL="427758" indent="-213879" lvl="1">
              <a:lnSpc>
                <a:spcPts val="2773"/>
              </a:lnSpc>
              <a:buFont typeface="Arial"/>
              <a:buChar char="•"/>
            </a:pPr>
            <a:r>
              <a:rPr lang="ar-EG" b="true" sz="1981">
                <a:solidFill>
                  <a:srgbClr val="000000"/>
                </a:solidFill>
                <a:latin typeface="Almarai Bold"/>
                <a:ea typeface="Almarai Bold"/>
                <a:cs typeface="Almarai Bold"/>
                <a:sym typeface="Almarai Bold"/>
                <a:rtl val="true"/>
              </a:rPr>
              <a:t>التكلفة المنخفضة</a:t>
            </a:r>
            <a:r>
              <a:rPr lang="ar-EG" sz="1981">
                <a:solidFill>
                  <a:srgbClr val="000000"/>
                </a:solidFill>
                <a:latin typeface="Almarai"/>
                <a:ea typeface="Almarai"/>
                <a:cs typeface="Almarai"/>
                <a:sym typeface="Almarai"/>
                <a:rtl val="true"/>
              </a:rPr>
              <a:t> اعتماده على جهاز </a:t>
            </a:r>
            <a:r>
              <a:rPr lang="en-US" sz="1981">
                <a:solidFill>
                  <a:srgbClr val="000000"/>
                </a:solidFill>
                <a:latin typeface="Almarai"/>
                <a:ea typeface="Almarai"/>
                <a:cs typeface="Almarai"/>
                <a:sym typeface="Almarai"/>
              </a:rPr>
              <a:t>Raspberry pi</a:t>
            </a:r>
            <a:r>
              <a:rPr lang="ar-EG" sz="1981">
                <a:solidFill>
                  <a:srgbClr val="000000"/>
                </a:solidFill>
                <a:latin typeface="Almarai"/>
                <a:ea typeface="Almarai"/>
                <a:cs typeface="Almarai"/>
                <a:sym typeface="Almarai"/>
                <a:rtl val="true"/>
              </a:rPr>
              <a:t> يجهله اقتصاديا مقارنة بالأنظمة التقليديه</a:t>
            </a:r>
          </a:p>
          <a:p>
            <a:pPr algn="r" rtl="true" marL="427758" indent="-213879" lvl="1">
              <a:lnSpc>
                <a:spcPts val="2773"/>
              </a:lnSpc>
              <a:buFont typeface="Arial"/>
              <a:buChar char="•"/>
            </a:pPr>
            <a:r>
              <a:rPr lang="ar-EG" b="true" sz="1981">
                <a:solidFill>
                  <a:srgbClr val="000000"/>
                </a:solidFill>
                <a:latin typeface="Almarai Bold"/>
                <a:ea typeface="Almarai Bold"/>
                <a:cs typeface="Almarai Bold"/>
                <a:sym typeface="Almarai Bold"/>
                <a:rtl val="true"/>
              </a:rPr>
              <a:t>سهوله الاستخدام </a:t>
            </a:r>
            <a:r>
              <a:rPr lang="ar-EG" sz="1981">
                <a:solidFill>
                  <a:srgbClr val="000000"/>
                </a:solidFill>
                <a:latin typeface="Almarai"/>
                <a:ea typeface="Almarai"/>
                <a:cs typeface="Almarai"/>
                <a:sym typeface="Almarai"/>
                <a:rtl val="true"/>
              </a:rPr>
              <a:t>واجهة بسيطة لا تتطلب خبرة تقنية عالية</a:t>
            </a:r>
          </a:p>
          <a:p>
            <a:pPr algn="r" rtl="true" marL="427758" indent="-213879" lvl="1">
              <a:lnSpc>
                <a:spcPts val="2773"/>
              </a:lnSpc>
              <a:buFont typeface="Arial"/>
              <a:buChar char="•"/>
            </a:pPr>
            <a:r>
              <a:rPr lang="ar-EG" b="true" sz="1981">
                <a:solidFill>
                  <a:srgbClr val="000000"/>
                </a:solidFill>
                <a:latin typeface="Almarai Bold"/>
                <a:ea typeface="Almarai Bold"/>
                <a:cs typeface="Almarai Bold"/>
                <a:sym typeface="Almarai Bold"/>
                <a:rtl val="true"/>
              </a:rPr>
              <a:t>ادارة المرضى</a:t>
            </a:r>
            <a:r>
              <a:rPr lang="ar-EG" sz="1981">
                <a:solidFill>
                  <a:srgbClr val="000000"/>
                </a:solidFill>
                <a:latin typeface="Almarai"/>
                <a:ea typeface="Almarai"/>
                <a:cs typeface="Almarai"/>
                <a:sym typeface="Almarai"/>
                <a:rtl val="true"/>
              </a:rPr>
              <a:t> لوحة تحكم متكاملة لمتابعة الحالات والنتائج</a:t>
            </a:r>
          </a:p>
        </p:txBody>
      </p:sp>
      <p:sp>
        <p:nvSpPr>
          <p:cNvPr name="TextBox 67" id="67"/>
          <p:cNvSpPr txBox="true"/>
          <p:nvPr/>
        </p:nvSpPr>
        <p:spPr>
          <a:xfrm rot="0">
            <a:off x="3916939" y="17464516"/>
            <a:ext cx="2452836" cy="405765"/>
          </a:xfrm>
          <a:prstGeom prst="rect">
            <a:avLst/>
          </a:prstGeom>
        </p:spPr>
        <p:txBody>
          <a:bodyPr anchor="t" rtlCol="false" tIns="0" lIns="0" bIns="0" rIns="0">
            <a:spAutoFit/>
          </a:bodyPr>
          <a:lstStyle/>
          <a:p>
            <a:pPr algn="ctr" rtl="true">
              <a:lnSpc>
                <a:spcPts val="3359"/>
              </a:lnSpc>
              <a:spcBef>
                <a:spcPct val="0"/>
              </a:spcBef>
            </a:pPr>
            <a:r>
              <a:rPr lang="ar-EG" b="true" sz="2400">
                <a:solidFill>
                  <a:srgbClr val="000000"/>
                </a:solidFill>
                <a:latin typeface="Almarai Bold"/>
                <a:ea typeface="Almarai Bold"/>
                <a:cs typeface="Almarai Bold"/>
                <a:sym typeface="Almarai Bold"/>
                <a:rtl val="true"/>
              </a:rPr>
              <a:t>التطوير المستقبلي</a:t>
            </a:r>
          </a:p>
        </p:txBody>
      </p:sp>
      <p:sp>
        <p:nvSpPr>
          <p:cNvPr name="TextBox 68" id="68"/>
          <p:cNvSpPr txBox="true"/>
          <p:nvPr/>
        </p:nvSpPr>
        <p:spPr>
          <a:xfrm rot="0">
            <a:off x="1967064" y="18336616"/>
            <a:ext cx="4562739" cy="2170027"/>
          </a:xfrm>
          <a:prstGeom prst="rect">
            <a:avLst/>
          </a:prstGeom>
        </p:spPr>
        <p:txBody>
          <a:bodyPr anchor="t" rtlCol="false" tIns="0" lIns="0" bIns="0" rIns="0">
            <a:spAutoFit/>
          </a:bodyPr>
          <a:lstStyle/>
          <a:p>
            <a:pPr algn="r" rtl="true">
              <a:lnSpc>
                <a:spcPts val="2900"/>
              </a:lnSpc>
            </a:pPr>
            <a:r>
              <a:rPr lang="ar-EG" sz="2071">
                <a:solidFill>
                  <a:srgbClr val="000000"/>
                </a:solidFill>
                <a:latin typeface="Almarai"/>
                <a:ea typeface="Almarai"/>
                <a:cs typeface="Almarai"/>
                <a:sym typeface="Almarai"/>
                <a:rtl val="true"/>
              </a:rPr>
              <a:t>يخطط لتطوير النظام مستقبلاً ليشمل دعم لتشخيص أمراض عصبية اخرى، وتحسين دقة النموذج عبر تدريبه على قواعد بيانات أوسع، اضافةً إلى ربطه بالسجلات الطبية الإلكترونية للمستشفيات وتطوير تطبيق جوال مرفق لتسهيل الوصول إلى النتائج</a:t>
            </a:r>
          </a:p>
        </p:txBody>
      </p:sp>
      <p:sp>
        <p:nvSpPr>
          <p:cNvPr name="TextBox 69" id="69"/>
          <p:cNvSpPr txBox="true"/>
          <p:nvPr/>
        </p:nvSpPr>
        <p:spPr>
          <a:xfrm rot="0">
            <a:off x="6084151" y="12049927"/>
            <a:ext cx="782524" cy="322122"/>
          </a:xfrm>
          <a:prstGeom prst="rect">
            <a:avLst/>
          </a:prstGeom>
        </p:spPr>
        <p:txBody>
          <a:bodyPr anchor="t" rtlCol="false" tIns="0" lIns="0" bIns="0" rIns="0">
            <a:spAutoFit/>
          </a:bodyPr>
          <a:lstStyle/>
          <a:p>
            <a:pPr algn="ctr" rtl="true">
              <a:lnSpc>
                <a:spcPts val="2664"/>
              </a:lnSpc>
              <a:spcBef>
                <a:spcPct val="0"/>
              </a:spcBef>
            </a:pPr>
            <a:r>
              <a:rPr lang="ar-EG" b="true" sz="1903">
                <a:solidFill>
                  <a:srgbClr val="000000"/>
                </a:solidFill>
                <a:latin typeface="Almarai Bold"/>
                <a:ea typeface="Almarai Bold"/>
                <a:cs typeface="Almarai Bold"/>
                <a:sym typeface="Almarai Bold"/>
                <a:rtl val="true"/>
              </a:rPr>
              <a:t>الأدوات</a:t>
            </a:r>
          </a:p>
        </p:txBody>
      </p:sp>
      <p:sp>
        <p:nvSpPr>
          <p:cNvPr name="TextBox 70" id="70"/>
          <p:cNvSpPr txBox="true"/>
          <p:nvPr/>
        </p:nvSpPr>
        <p:spPr>
          <a:xfrm rot="0">
            <a:off x="8251649" y="18621476"/>
            <a:ext cx="5228000" cy="2110560"/>
          </a:xfrm>
          <a:prstGeom prst="rect">
            <a:avLst/>
          </a:prstGeom>
        </p:spPr>
        <p:txBody>
          <a:bodyPr anchor="t" rtlCol="false" tIns="0" lIns="0" bIns="0" rIns="0">
            <a:spAutoFit/>
          </a:bodyPr>
          <a:lstStyle/>
          <a:p>
            <a:pPr algn="r" rtl="true">
              <a:lnSpc>
                <a:spcPts val="2844"/>
              </a:lnSpc>
            </a:pPr>
            <a:r>
              <a:rPr lang="ar-EG" sz="2032" b="true">
                <a:solidFill>
                  <a:srgbClr val="000000"/>
                </a:solidFill>
                <a:latin typeface="Almarai Bold"/>
                <a:ea typeface="Almarai Bold"/>
                <a:cs typeface="Almarai Bold"/>
                <a:sym typeface="Almarai Bold"/>
                <a:rtl val="true"/>
              </a:rPr>
              <a:t>اسم المشرفة : </a:t>
            </a:r>
            <a:r>
              <a:rPr lang="ar-EG" sz="2032">
                <a:solidFill>
                  <a:srgbClr val="000000"/>
                </a:solidFill>
                <a:latin typeface="Almarai"/>
                <a:ea typeface="Almarai"/>
                <a:cs typeface="Almarai"/>
                <a:sym typeface="Almarai"/>
                <a:rtl val="true"/>
              </a:rPr>
              <a:t>دانية الموسى</a:t>
            </a:r>
          </a:p>
          <a:p>
            <a:pPr algn="r" rtl="true">
              <a:lnSpc>
                <a:spcPts val="2844"/>
              </a:lnSpc>
            </a:pPr>
            <a:r>
              <a:rPr lang="ar-EG" sz="2032" b="true">
                <a:solidFill>
                  <a:srgbClr val="000000"/>
                </a:solidFill>
                <a:latin typeface="Almarai Bold"/>
                <a:ea typeface="Almarai Bold"/>
                <a:cs typeface="Almarai Bold"/>
                <a:sym typeface="Almarai Bold"/>
                <a:rtl val="true"/>
              </a:rPr>
              <a:t>ا</a:t>
            </a:r>
            <a:r>
              <a:rPr lang="ar-EG" sz="2032" b="true">
                <a:solidFill>
                  <a:srgbClr val="000000"/>
                </a:solidFill>
                <a:latin typeface="Almarai Bold"/>
                <a:ea typeface="Almarai Bold"/>
                <a:cs typeface="Almarai Bold"/>
                <a:sym typeface="Almarai Bold"/>
                <a:rtl val="true"/>
              </a:rPr>
              <a:t>سم المتدربة القائدة : </a:t>
            </a:r>
            <a:r>
              <a:rPr lang="ar-EG" sz="2032">
                <a:solidFill>
                  <a:srgbClr val="000000"/>
                </a:solidFill>
                <a:latin typeface="Almarai"/>
                <a:ea typeface="Almarai"/>
                <a:cs typeface="Almarai"/>
                <a:sym typeface="Almarai"/>
                <a:rtl val="true"/>
              </a:rPr>
              <a:t>مروة عبدالله سبعي</a:t>
            </a:r>
          </a:p>
          <a:p>
            <a:pPr algn="r" rtl="true">
              <a:lnSpc>
                <a:spcPts val="2844"/>
              </a:lnSpc>
            </a:pPr>
            <a:r>
              <a:rPr lang="ar-EG" sz="2032" b="true">
                <a:solidFill>
                  <a:srgbClr val="000000"/>
                </a:solidFill>
                <a:latin typeface="Almarai Bold"/>
                <a:ea typeface="Almarai Bold"/>
                <a:cs typeface="Almarai Bold"/>
                <a:sym typeface="Almarai Bold"/>
                <a:rtl val="true"/>
              </a:rPr>
              <a:t>رقم جوال القائدة : </a:t>
            </a:r>
            <a:r>
              <a:rPr lang="en-US" sz="2032">
                <a:solidFill>
                  <a:srgbClr val="000000"/>
                </a:solidFill>
                <a:latin typeface="Almarai"/>
                <a:ea typeface="Almarai"/>
                <a:cs typeface="Almarai"/>
                <a:sym typeface="Almarai"/>
              </a:rPr>
              <a:t>0560226557</a:t>
            </a:r>
          </a:p>
          <a:p>
            <a:pPr algn="r" rtl="true">
              <a:lnSpc>
                <a:spcPts val="2844"/>
              </a:lnSpc>
            </a:pPr>
            <a:r>
              <a:rPr lang="ar-EG" sz="2032" b="true">
                <a:solidFill>
                  <a:srgbClr val="000000"/>
                </a:solidFill>
                <a:latin typeface="Almarai Bold"/>
                <a:ea typeface="Almarai Bold"/>
                <a:cs typeface="Almarai Bold"/>
                <a:sym typeface="Almarai Bold"/>
                <a:rtl val="true"/>
              </a:rPr>
              <a:t>اسماء اعضاء الفريق : </a:t>
            </a:r>
            <a:r>
              <a:rPr lang="ar-EG" sz="2032">
                <a:solidFill>
                  <a:srgbClr val="000000"/>
                </a:solidFill>
                <a:latin typeface="Almarai"/>
                <a:ea typeface="Almarai"/>
                <a:cs typeface="Almarai"/>
                <a:sym typeface="Almarai"/>
                <a:rtl val="true"/>
              </a:rPr>
              <a:t>لمى عبدالهادي - منى شاهر - لجين حكمي - العنود العنزي - هديل سعود</a:t>
            </a:r>
          </a:p>
          <a:p>
            <a:pPr algn="r" rtl="true">
              <a:lnSpc>
                <a:spcPts val="2844"/>
              </a:lnSpc>
            </a:pPr>
            <a:r>
              <a:rPr lang="ar-EG" sz="2032" b="true">
                <a:solidFill>
                  <a:srgbClr val="000000"/>
                </a:solidFill>
                <a:latin typeface="Almarai Bold"/>
                <a:ea typeface="Almarai Bold"/>
                <a:cs typeface="Almarai Bold"/>
                <a:sym typeface="Almarai Bold"/>
                <a:rtl val="true"/>
              </a:rPr>
              <a:t>الكلية التقنية الرقمية للبنات بالرياض </a:t>
            </a:r>
          </a:p>
        </p:txBody>
      </p:sp>
      <p:sp>
        <p:nvSpPr>
          <p:cNvPr name="TextBox 71" id="71"/>
          <p:cNvSpPr txBox="true"/>
          <p:nvPr/>
        </p:nvSpPr>
        <p:spPr>
          <a:xfrm rot="0">
            <a:off x="4833608" y="4035036"/>
            <a:ext cx="1655118" cy="405765"/>
          </a:xfrm>
          <a:prstGeom prst="rect">
            <a:avLst/>
          </a:prstGeom>
        </p:spPr>
        <p:txBody>
          <a:bodyPr anchor="t" rtlCol="false" tIns="0" lIns="0" bIns="0" rIns="0">
            <a:spAutoFit/>
          </a:bodyPr>
          <a:lstStyle/>
          <a:p>
            <a:pPr algn="ctr" rtl="true">
              <a:lnSpc>
                <a:spcPts val="3359"/>
              </a:lnSpc>
              <a:spcBef>
                <a:spcPct val="0"/>
              </a:spcBef>
            </a:pPr>
            <a:r>
              <a:rPr lang="ar-EG" b="true" sz="2400">
                <a:solidFill>
                  <a:srgbClr val="000000"/>
                </a:solidFill>
                <a:latin typeface="Almarai Bold"/>
                <a:ea typeface="Almarai Bold"/>
                <a:cs typeface="Almarai Bold"/>
                <a:sym typeface="Almarai Bold"/>
                <a:rtl val="true"/>
              </a:rPr>
              <a:t>صورة الإبتكار</a:t>
            </a:r>
          </a:p>
        </p:txBody>
      </p:sp>
      <p:sp>
        <p:nvSpPr>
          <p:cNvPr name="TextBox 72" id="72"/>
          <p:cNvSpPr txBox="true"/>
          <p:nvPr/>
        </p:nvSpPr>
        <p:spPr>
          <a:xfrm rot="0">
            <a:off x="5978268" y="606504"/>
            <a:ext cx="1838623" cy="405765"/>
          </a:xfrm>
          <a:prstGeom prst="rect">
            <a:avLst/>
          </a:prstGeom>
        </p:spPr>
        <p:txBody>
          <a:bodyPr anchor="t" rtlCol="false" tIns="0" lIns="0" bIns="0" rIns="0">
            <a:spAutoFit/>
          </a:bodyPr>
          <a:lstStyle/>
          <a:p>
            <a:pPr algn="ctr" rtl="true">
              <a:lnSpc>
                <a:spcPts val="3359"/>
              </a:lnSpc>
              <a:spcBef>
                <a:spcPct val="0"/>
              </a:spcBef>
            </a:pPr>
            <a:r>
              <a:rPr lang="ar-EG" b="true" sz="2400">
                <a:solidFill>
                  <a:srgbClr val="000000"/>
                </a:solidFill>
                <a:latin typeface="Almarai Bold"/>
                <a:ea typeface="Almarai Bold"/>
                <a:cs typeface="Almarai Bold"/>
                <a:sym typeface="Almarai Bold"/>
                <a:rtl val="true"/>
              </a:rPr>
              <a:t>اسم المشروع</a:t>
            </a:r>
          </a:p>
        </p:txBody>
      </p:sp>
      <p:sp>
        <p:nvSpPr>
          <p:cNvPr name="TextBox 73" id="73"/>
          <p:cNvSpPr txBox="true"/>
          <p:nvPr/>
        </p:nvSpPr>
        <p:spPr>
          <a:xfrm rot="0">
            <a:off x="4554369" y="12659674"/>
            <a:ext cx="2482007" cy="241492"/>
          </a:xfrm>
          <a:prstGeom prst="rect">
            <a:avLst/>
          </a:prstGeom>
        </p:spPr>
        <p:txBody>
          <a:bodyPr anchor="t" rtlCol="false" tIns="0" lIns="0" bIns="0" rIns="0">
            <a:spAutoFit/>
          </a:bodyPr>
          <a:lstStyle/>
          <a:p>
            <a:pPr algn="r" rtl="true" marL="295228" indent="-147614" lvl="1">
              <a:lnSpc>
                <a:spcPts val="1914"/>
              </a:lnSpc>
              <a:spcBef>
                <a:spcPct val="0"/>
              </a:spcBef>
              <a:buAutoNum type="arabicPeriod" startAt="1"/>
            </a:pPr>
            <a:r>
              <a:rPr lang="ar-EG" b="true" sz="1367">
                <a:solidFill>
                  <a:srgbClr val="000000"/>
                </a:solidFill>
                <a:latin typeface="Almarai Bold"/>
                <a:ea typeface="Almarai Bold"/>
                <a:cs typeface="Almarai Bold"/>
                <a:sym typeface="Almarai Bold"/>
                <a:rtl val="true"/>
              </a:rPr>
              <a:t>لغات البرمجة وقواعد البيانات: </a:t>
            </a:r>
          </a:p>
        </p:txBody>
      </p:sp>
      <p:sp>
        <p:nvSpPr>
          <p:cNvPr name="TextBox 74" id="74"/>
          <p:cNvSpPr txBox="true"/>
          <p:nvPr/>
        </p:nvSpPr>
        <p:spPr>
          <a:xfrm rot="0">
            <a:off x="4398690" y="14155002"/>
            <a:ext cx="2870002" cy="241492"/>
          </a:xfrm>
          <a:prstGeom prst="rect">
            <a:avLst/>
          </a:prstGeom>
        </p:spPr>
        <p:txBody>
          <a:bodyPr anchor="t" rtlCol="false" tIns="0" lIns="0" bIns="0" rIns="0">
            <a:spAutoFit/>
          </a:bodyPr>
          <a:lstStyle/>
          <a:p>
            <a:pPr algn="r" rtl="true" marL="295228" indent="-147614" lvl="1">
              <a:lnSpc>
                <a:spcPts val="1914"/>
              </a:lnSpc>
              <a:spcBef>
                <a:spcPct val="0"/>
              </a:spcBef>
              <a:buAutoNum type="arabicPeriod" startAt="1"/>
            </a:pPr>
            <a:r>
              <a:rPr lang="ar-EG" b="true" sz="1367">
                <a:solidFill>
                  <a:srgbClr val="000000"/>
                </a:solidFill>
                <a:latin typeface="Almarai Bold"/>
                <a:ea typeface="Almarai Bold"/>
                <a:cs typeface="Almarai Bold"/>
                <a:sym typeface="Almarai Bold"/>
                <a:rtl val="true"/>
              </a:rPr>
              <a:t>منصات الذكاء الاصطناعي والبيانات:</a:t>
            </a:r>
          </a:p>
        </p:txBody>
      </p:sp>
      <p:sp>
        <p:nvSpPr>
          <p:cNvPr name="TextBox 75" id="75"/>
          <p:cNvSpPr txBox="true"/>
          <p:nvPr/>
        </p:nvSpPr>
        <p:spPr>
          <a:xfrm rot="0">
            <a:off x="4533170" y="15042913"/>
            <a:ext cx="2620417" cy="241492"/>
          </a:xfrm>
          <a:prstGeom prst="rect">
            <a:avLst/>
          </a:prstGeom>
        </p:spPr>
        <p:txBody>
          <a:bodyPr anchor="t" rtlCol="false" tIns="0" lIns="0" bIns="0" rIns="0">
            <a:spAutoFit/>
          </a:bodyPr>
          <a:lstStyle/>
          <a:p>
            <a:pPr algn="r" rtl="true" marL="295228" indent="-147614" lvl="1">
              <a:lnSpc>
                <a:spcPts val="1914"/>
              </a:lnSpc>
              <a:spcBef>
                <a:spcPct val="0"/>
              </a:spcBef>
              <a:buAutoNum type="arabicPeriod" startAt="1"/>
            </a:pPr>
            <a:r>
              <a:rPr lang="ar-EG" b="true" sz="1367">
                <a:solidFill>
                  <a:srgbClr val="000000"/>
                </a:solidFill>
                <a:latin typeface="Almarai Bold"/>
                <a:ea typeface="Almarai Bold"/>
                <a:cs typeface="Almarai Bold"/>
                <a:sym typeface="Almarai Bold"/>
                <a:rtl val="true"/>
              </a:rPr>
              <a:t>الأجهزة والمكونات (</a:t>
            </a:r>
            <a:r>
              <a:rPr lang="en-US" b="true" sz="1367">
                <a:solidFill>
                  <a:srgbClr val="000000"/>
                </a:solidFill>
                <a:latin typeface="Almarai Bold"/>
                <a:ea typeface="Almarai Bold"/>
                <a:cs typeface="Almarai Bold"/>
                <a:sym typeface="Almarai Bold"/>
              </a:rPr>
              <a:t>hardware</a:t>
            </a:r>
            <a:r>
              <a:rPr lang="ar-EG" b="true" sz="1367">
                <a:solidFill>
                  <a:srgbClr val="000000"/>
                </a:solidFill>
                <a:latin typeface="Almarai Bold"/>
                <a:ea typeface="Almarai Bold"/>
                <a:cs typeface="Almarai Bold"/>
                <a:sym typeface="Almarai Bold"/>
                <a:rtl val="true"/>
              </a:rPr>
              <a:t>):</a:t>
            </a:r>
          </a:p>
        </p:txBody>
      </p:sp>
      <p:sp>
        <p:nvSpPr>
          <p:cNvPr name="TextBox 76" id="76"/>
          <p:cNvSpPr txBox="true"/>
          <p:nvPr/>
        </p:nvSpPr>
        <p:spPr>
          <a:xfrm rot="0">
            <a:off x="5491127" y="16354766"/>
            <a:ext cx="1605707" cy="479617"/>
          </a:xfrm>
          <a:prstGeom prst="rect">
            <a:avLst/>
          </a:prstGeom>
        </p:spPr>
        <p:txBody>
          <a:bodyPr anchor="t" rtlCol="false" tIns="0" lIns="0" bIns="0" rIns="0">
            <a:spAutoFit/>
          </a:bodyPr>
          <a:lstStyle/>
          <a:p>
            <a:pPr algn="ctr">
              <a:lnSpc>
                <a:spcPts val="1914"/>
              </a:lnSpc>
            </a:pPr>
            <a:r>
              <a:rPr lang="en-US" sz="1367">
                <a:solidFill>
                  <a:srgbClr val="000000"/>
                </a:solidFill>
                <a:latin typeface="Almarai"/>
                <a:ea typeface="Almarai"/>
                <a:cs typeface="Almarai"/>
                <a:sym typeface="Almarai"/>
              </a:rPr>
              <a:t>Raspberry pi 5</a:t>
            </a:r>
          </a:p>
          <a:p>
            <a:pPr algn="ctr" rtl="true">
              <a:lnSpc>
                <a:spcPts val="1914"/>
              </a:lnSpc>
              <a:spcBef>
                <a:spcPct val="0"/>
              </a:spcBef>
            </a:pPr>
            <a:r>
              <a:rPr lang="ar-EG" sz="1367">
                <a:solidFill>
                  <a:srgbClr val="000000"/>
                </a:solidFill>
                <a:latin typeface="Almarai"/>
                <a:ea typeface="Almarai"/>
                <a:cs typeface="Almarai"/>
                <a:sym typeface="Almarai"/>
                <a:rtl val="true"/>
              </a:rPr>
              <a:t>وحدة المعالجة المركزية</a:t>
            </a:r>
          </a:p>
        </p:txBody>
      </p:sp>
      <p:sp>
        <p:nvSpPr>
          <p:cNvPr name="TextBox 77" id="77"/>
          <p:cNvSpPr txBox="true"/>
          <p:nvPr/>
        </p:nvSpPr>
        <p:spPr>
          <a:xfrm rot="0">
            <a:off x="3487968" y="16354766"/>
            <a:ext cx="1247329" cy="479617"/>
          </a:xfrm>
          <a:prstGeom prst="rect">
            <a:avLst/>
          </a:prstGeom>
        </p:spPr>
        <p:txBody>
          <a:bodyPr anchor="t" rtlCol="false" tIns="0" lIns="0" bIns="0" rIns="0">
            <a:spAutoFit/>
          </a:bodyPr>
          <a:lstStyle/>
          <a:p>
            <a:pPr algn="ctr" rtl="true">
              <a:lnSpc>
                <a:spcPts val="1914"/>
              </a:lnSpc>
            </a:pPr>
            <a:r>
              <a:rPr lang="ar-EG" sz="1367">
                <a:solidFill>
                  <a:srgbClr val="000000"/>
                </a:solidFill>
                <a:latin typeface="Almarai"/>
                <a:ea typeface="Almarai"/>
                <a:cs typeface="Almarai"/>
                <a:sym typeface="Almarai"/>
                <a:rtl val="true"/>
              </a:rPr>
              <a:t>كاميرا التصوير </a:t>
            </a:r>
          </a:p>
          <a:p>
            <a:pPr algn="ctr" rtl="true">
              <a:lnSpc>
                <a:spcPts val="1914"/>
              </a:lnSpc>
              <a:spcBef>
                <a:spcPct val="0"/>
              </a:spcBef>
            </a:pPr>
            <a:r>
              <a:rPr lang="ar-EG" sz="1367">
                <a:solidFill>
                  <a:srgbClr val="000000"/>
                </a:solidFill>
                <a:latin typeface="Almarai"/>
                <a:ea typeface="Almarai"/>
                <a:cs typeface="Almarai"/>
                <a:sym typeface="Almarai"/>
                <a:rtl val="true"/>
              </a:rPr>
              <a:t>التقاط صور الرنين</a:t>
            </a:r>
          </a:p>
        </p:txBody>
      </p:sp>
      <p:sp>
        <p:nvSpPr>
          <p:cNvPr name="TextBox 78" id="78"/>
          <p:cNvSpPr txBox="true"/>
          <p:nvPr/>
        </p:nvSpPr>
        <p:spPr>
          <a:xfrm rot="0">
            <a:off x="1115565" y="16302027"/>
            <a:ext cx="1745456" cy="479617"/>
          </a:xfrm>
          <a:prstGeom prst="rect">
            <a:avLst/>
          </a:prstGeom>
        </p:spPr>
        <p:txBody>
          <a:bodyPr anchor="t" rtlCol="false" tIns="0" lIns="0" bIns="0" rIns="0">
            <a:spAutoFit/>
          </a:bodyPr>
          <a:lstStyle/>
          <a:p>
            <a:pPr algn="ctr" rtl="true">
              <a:lnSpc>
                <a:spcPts val="1914"/>
              </a:lnSpc>
            </a:pPr>
            <a:r>
              <a:rPr lang="ar-EG" sz="1367">
                <a:solidFill>
                  <a:srgbClr val="000000"/>
                </a:solidFill>
                <a:latin typeface="Almarai"/>
                <a:ea typeface="Almarai"/>
                <a:cs typeface="Almarai"/>
                <a:sym typeface="Almarai"/>
                <a:rtl val="true"/>
              </a:rPr>
              <a:t>شاشة </a:t>
            </a:r>
            <a:r>
              <a:rPr lang="en-US" sz="1367">
                <a:solidFill>
                  <a:srgbClr val="000000"/>
                </a:solidFill>
                <a:latin typeface="Almarai"/>
                <a:ea typeface="Almarai"/>
                <a:cs typeface="Almarai"/>
                <a:sym typeface="Almarai"/>
              </a:rPr>
              <a:t>Display</a:t>
            </a:r>
            <a:r>
              <a:rPr lang="ar-EG" sz="1367">
                <a:solidFill>
                  <a:srgbClr val="000000"/>
                </a:solidFill>
                <a:latin typeface="Almarai"/>
                <a:ea typeface="Almarai"/>
                <a:cs typeface="Almarai"/>
                <a:sym typeface="Almarai"/>
                <a:rtl val="true"/>
              </a:rPr>
              <a:t> </a:t>
            </a:r>
          </a:p>
          <a:p>
            <a:pPr algn="ctr" rtl="true">
              <a:lnSpc>
                <a:spcPts val="1914"/>
              </a:lnSpc>
              <a:spcBef>
                <a:spcPct val="0"/>
              </a:spcBef>
            </a:pPr>
            <a:r>
              <a:rPr lang="ar-EG" sz="1367">
                <a:solidFill>
                  <a:srgbClr val="000000"/>
                </a:solidFill>
                <a:latin typeface="Almarai"/>
                <a:ea typeface="Almarai"/>
                <a:cs typeface="Almarai"/>
                <a:sym typeface="Almarai"/>
                <a:rtl val="true"/>
              </a:rPr>
              <a:t>عرض المخرجات والموقع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DAHG1vr6_2o</dc:identifier>
  <dcterms:modified xsi:type="dcterms:W3CDTF">2011-08-01T06:04:30Z</dcterms:modified>
  <cp:revision>1</cp:revision>
  <dc:title>Persuasive Research Poster in Orange Modern Simple Style</dc:title>
</cp:coreProperties>
</file>