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
  </p:notesMasterIdLst>
  <p:sldIdLst>
    <p:sldId id="270" r:id="rId2"/>
  </p:sldIdLst>
  <p:sldSz cx="15113000" cy="21374100"/>
  <p:notesSz cx="6858000" cy="9144000"/>
  <p:embeddedFontLst>
    <p:embeddedFont>
      <p:font typeface="Almarai" panose="020B0604020202020204" charset="-78"/>
      <p:regular r:id="rId4"/>
    </p:embeddedFont>
    <p:embeddedFont>
      <p:font typeface="Almarai Bold" panose="020B0604020202020204" charset="-78"/>
      <p:regular r:id="rId5"/>
      <p:bold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8B5D"/>
    <a:srgbClr val="F0F0F0"/>
    <a:srgbClr val="F4F1EB"/>
    <a:srgbClr val="154D5A"/>
    <a:srgbClr val="982A2D"/>
    <a:srgbClr val="3858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2157" autoAdjust="0"/>
  </p:normalViewPr>
  <p:slideViewPr>
    <p:cSldViewPr>
      <p:cViewPr varScale="1">
        <p:scale>
          <a:sx n="24" d="100"/>
          <a:sy n="24" d="100"/>
        </p:scale>
        <p:origin x="2717" y="12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5" Type="http://schemas.openxmlformats.org/officeDocument/2006/relationships/font" Target="fonts/font2.fntdata"/><Relationship Id="rId10" Type="http://schemas.openxmlformats.org/officeDocument/2006/relationships/tableStyles" Target="tableStyles.xml"/><Relationship Id="rId4" Type="http://schemas.openxmlformats.org/officeDocument/2006/relationships/font" Target="fonts/font1.fntdata"/><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4A5F691C-5A01-43B5-8CB7-D0049737898E}" type="datetimeFigureOut">
              <a:rPr lang="en-US" smtClean="0"/>
              <a:t>4/27/2026</a:t>
            </a:fld>
            <a:endParaRPr lang="en-US"/>
          </a:p>
        </p:txBody>
      </p:sp>
      <p:sp>
        <p:nvSpPr>
          <p:cNvPr id="4" name="عنصر نائب لصورة الشريحة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A8674C72-F6B7-4EB5-A506-7A5488CB3CBB}" type="slidenum">
              <a:rPr lang="en-US" smtClean="0"/>
              <a:t>‹#›</a:t>
            </a:fld>
            <a:endParaRPr lang="en-US"/>
          </a:p>
        </p:txBody>
      </p:sp>
    </p:spTree>
    <p:extLst>
      <p:ext uri="{BB962C8B-B14F-4D97-AF65-F5344CB8AC3E}">
        <p14:creationId xmlns:p14="http://schemas.microsoft.com/office/powerpoint/2010/main" val="367639258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591383" y="3346071"/>
            <a:ext cx="7508917" cy="15226063"/>
            <a:chOff x="0" y="-4945"/>
            <a:chExt cx="1345513" cy="2728339"/>
          </a:xfrm>
          <a:solidFill>
            <a:srgbClr val="F4F1EB"/>
          </a:solidFill>
        </p:grpSpPr>
        <p:sp>
          <p:nvSpPr>
            <p:cNvPr id="3" name="Freeform 3"/>
            <p:cNvSpPr/>
            <p:nvPr/>
          </p:nvSpPr>
          <p:spPr>
            <a:xfrm>
              <a:off x="0" y="0"/>
              <a:ext cx="1345513" cy="2723394"/>
            </a:xfrm>
            <a:custGeom>
              <a:avLst/>
              <a:gdLst/>
              <a:ahLst/>
              <a:cxnLst/>
              <a:rect l="l" t="t" r="r" b="b"/>
              <a:pathLst>
                <a:path w="1345513" h="2723394">
                  <a:moveTo>
                    <a:pt x="0" y="0"/>
                  </a:moveTo>
                  <a:lnTo>
                    <a:pt x="1345513" y="0"/>
                  </a:lnTo>
                  <a:lnTo>
                    <a:pt x="1345513" y="2723394"/>
                  </a:lnTo>
                  <a:lnTo>
                    <a:pt x="0" y="2723394"/>
                  </a:lnTo>
                  <a:close/>
                </a:path>
              </a:pathLst>
            </a:custGeom>
            <a:grpFill/>
          </p:spPr>
          <p:txBody>
            <a:bodyPr/>
            <a:lstStyle/>
            <a:p>
              <a:endParaRPr lang="ar-SA"/>
            </a:p>
          </p:txBody>
        </p:sp>
        <p:sp>
          <p:nvSpPr>
            <p:cNvPr id="4" name="TextBox 4"/>
            <p:cNvSpPr txBox="1"/>
            <p:nvPr/>
          </p:nvSpPr>
          <p:spPr>
            <a:xfrm>
              <a:off x="0" y="-4945"/>
              <a:ext cx="1345513" cy="2728339"/>
            </a:xfrm>
            <a:prstGeom prst="rect">
              <a:avLst/>
            </a:prstGeom>
            <a:grpFill/>
          </p:spPr>
          <p:txBody>
            <a:bodyPr lIns="50800" tIns="50800" rIns="50800" bIns="50800" rtlCol="0" anchor="ctr"/>
            <a:lstStyle/>
            <a:p>
              <a:pPr algn="ctr">
                <a:lnSpc>
                  <a:spcPts val="4153"/>
                </a:lnSpc>
              </a:pPr>
              <a:endParaRPr/>
            </a:p>
          </p:txBody>
        </p:sp>
      </p:grpSp>
      <p:grpSp>
        <p:nvGrpSpPr>
          <p:cNvPr id="7" name="Group 7"/>
          <p:cNvGrpSpPr>
            <a:grpSpLocks noChangeAspect="1"/>
          </p:cNvGrpSpPr>
          <p:nvPr/>
        </p:nvGrpSpPr>
        <p:grpSpPr>
          <a:xfrm>
            <a:off x="14280763" y="7891085"/>
            <a:ext cx="413620" cy="413651"/>
            <a:chOff x="0" y="0"/>
            <a:chExt cx="623202" cy="623252"/>
          </a:xfrm>
          <a:solidFill>
            <a:srgbClr val="9F8B5D"/>
          </a:solidFill>
        </p:grpSpPr>
        <p:sp>
          <p:nvSpPr>
            <p:cNvPr id="8" name="Freeform 8"/>
            <p:cNvSpPr/>
            <p:nvPr/>
          </p:nvSpPr>
          <p:spPr>
            <a:xfrm>
              <a:off x="0" y="-127"/>
              <a:ext cx="626364" cy="623316"/>
            </a:xfrm>
            <a:custGeom>
              <a:avLst/>
              <a:gdLst/>
              <a:ahLst/>
              <a:cxnLst/>
              <a:rect l="l" t="t" r="r" b="b"/>
              <a:pathLst>
                <a:path w="626364" h="623316">
                  <a:moveTo>
                    <a:pt x="361061" y="127"/>
                  </a:moveTo>
                  <a:lnTo>
                    <a:pt x="204343" y="155956"/>
                  </a:lnTo>
                  <a:cubicBezTo>
                    <a:pt x="203454" y="155829"/>
                    <a:pt x="203200" y="155956"/>
                    <a:pt x="202438" y="155956"/>
                  </a:cubicBezTo>
                  <a:cubicBezTo>
                    <a:pt x="176657" y="155956"/>
                    <a:pt x="155702" y="176911"/>
                    <a:pt x="155702" y="202692"/>
                  </a:cubicBezTo>
                  <a:cubicBezTo>
                    <a:pt x="155702" y="228473"/>
                    <a:pt x="176657" y="249428"/>
                    <a:pt x="202438" y="249428"/>
                  </a:cubicBezTo>
                  <a:cubicBezTo>
                    <a:pt x="228219" y="249428"/>
                    <a:pt x="249174" y="228473"/>
                    <a:pt x="249174" y="202692"/>
                  </a:cubicBezTo>
                  <a:lnTo>
                    <a:pt x="249301" y="201549"/>
                  </a:lnTo>
                  <a:lnTo>
                    <a:pt x="386334" y="62484"/>
                  </a:lnTo>
                  <a:lnTo>
                    <a:pt x="404876" y="62484"/>
                  </a:lnTo>
                  <a:lnTo>
                    <a:pt x="467106" y="127"/>
                  </a:lnTo>
                  <a:close/>
                  <a:moveTo>
                    <a:pt x="511937" y="127"/>
                  </a:moveTo>
                  <a:lnTo>
                    <a:pt x="495554" y="2794"/>
                  </a:lnTo>
                  <a:lnTo>
                    <a:pt x="403860" y="95504"/>
                  </a:lnTo>
                  <a:lnTo>
                    <a:pt x="527558" y="219202"/>
                  </a:lnTo>
                  <a:lnTo>
                    <a:pt x="614172" y="133477"/>
                  </a:lnTo>
                  <a:cubicBezTo>
                    <a:pt x="626364" y="121031"/>
                    <a:pt x="626364" y="101092"/>
                    <a:pt x="614172" y="88646"/>
                  </a:cubicBezTo>
                  <a:lnTo>
                    <a:pt x="534289" y="8890"/>
                  </a:lnTo>
                  <a:cubicBezTo>
                    <a:pt x="528320" y="3048"/>
                    <a:pt x="520319" y="0"/>
                    <a:pt x="511937" y="127"/>
                  </a:cubicBezTo>
                  <a:moveTo>
                    <a:pt x="370840" y="128651"/>
                  </a:moveTo>
                  <a:lnTo>
                    <a:pt x="31115" y="468503"/>
                  </a:lnTo>
                  <a:lnTo>
                    <a:pt x="0" y="623316"/>
                  </a:lnTo>
                  <a:lnTo>
                    <a:pt x="154813" y="592201"/>
                  </a:lnTo>
                  <a:lnTo>
                    <a:pt x="494411" y="252349"/>
                  </a:lnTo>
                  <a:close/>
                  <a:moveTo>
                    <a:pt x="137287" y="450088"/>
                  </a:moveTo>
                  <a:lnTo>
                    <a:pt x="173355" y="486156"/>
                  </a:lnTo>
                  <a:lnTo>
                    <a:pt x="124587" y="534797"/>
                  </a:lnTo>
                  <a:lnTo>
                    <a:pt x="79756" y="543560"/>
                  </a:lnTo>
                  <a:lnTo>
                    <a:pt x="88519" y="498729"/>
                  </a:lnTo>
                  <a:close/>
                </a:path>
              </a:pathLst>
            </a:custGeom>
            <a:grpFill/>
          </p:spPr>
          <p:txBody>
            <a:bodyPr/>
            <a:lstStyle/>
            <a:p>
              <a:endParaRPr lang="ar-SA" dirty="0"/>
            </a:p>
          </p:txBody>
        </p:sp>
      </p:grpSp>
      <p:sp>
        <p:nvSpPr>
          <p:cNvPr id="18" name="Freeform 18"/>
          <p:cNvSpPr/>
          <p:nvPr/>
        </p:nvSpPr>
        <p:spPr>
          <a:xfrm>
            <a:off x="12194987" y="19329119"/>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9" name="Freeform 19"/>
          <p:cNvSpPr/>
          <p:nvPr/>
        </p:nvSpPr>
        <p:spPr>
          <a:xfrm>
            <a:off x="6400336" y="3862121"/>
            <a:ext cx="602315" cy="602315"/>
          </a:xfrm>
          <a:custGeom>
            <a:avLst/>
            <a:gdLst/>
            <a:ahLst/>
            <a:cxnLst/>
            <a:rect l="l" t="t" r="r" b="b"/>
            <a:pathLst>
              <a:path w="602315" h="602315">
                <a:moveTo>
                  <a:pt x="0" y="0"/>
                </a:moveTo>
                <a:lnTo>
                  <a:pt x="602315" y="0"/>
                </a:lnTo>
                <a:lnTo>
                  <a:pt x="602315" y="602315"/>
                </a:lnTo>
                <a:lnTo>
                  <a:pt x="0" y="6023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SA"/>
          </a:p>
        </p:txBody>
      </p:sp>
      <p:sp>
        <p:nvSpPr>
          <p:cNvPr id="20" name="Freeform 20"/>
          <p:cNvSpPr/>
          <p:nvPr/>
        </p:nvSpPr>
        <p:spPr>
          <a:xfrm>
            <a:off x="6381083" y="9467850"/>
            <a:ext cx="756840" cy="756840"/>
          </a:xfrm>
          <a:custGeom>
            <a:avLst/>
            <a:gdLst/>
            <a:ahLst/>
            <a:cxnLst/>
            <a:rect l="l" t="t" r="r" b="b"/>
            <a:pathLst>
              <a:path w="756840" h="756840">
                <a:moveTo>
                  <a:pt x="0" y="0"/>
                </a:moveTo>
                <a:lnTo>
                  <a:pt x="756840" y="0"/>
                </a:lnTo>
                <a:lnTo>
                  <a:pt x="756840" y="756840"/>
                </a:lnTo>
                <a:lnTo>
                  <a:pt x="0" y="7568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SA"/>
          </a:p>
        </p:txBody>
      </p:sp>
      <p:sp>
        <p:nvSpPr>
          <p:cNvPr id="22" name="Freeform 22"/>
          <p:cNvSpPr/>
          <p:nvPr/>
        </p:nvSpPr>
        <p:spPr>
          <a:xfrm>
            <a:off x="12138986" y="20033969"/>
            <a:ext cx="635281" cy="635281"/>
          </a:xfrm>
          <a:custGeom>
            <a:avLst/>
            <a:gdLst/>
            <a:ahLst/>
            <a:cxnLst/>
            <a:rect l="l" t="t" r="r" b="b"/>
            <a:pathLst>
              <a:path w="635281" h="635281">
                <a:moveTo>
                  <a:pt x="0" y="0"/>
                </a:moveTo>
                <a:lnTo>
                  <a:pt x="635281" y="0"/>
                </a:lnTo>
                <a:lnTo>
                  <a:pt x="635281" y="635280"/>
                </a:lnTo>
                <a:lnTo>
                  <a:pt x="0" y="63528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SA"/>
          </a:p>
        </p:txBody>
      </p:sp>
      <p:sp>
        <p:nvSpPr>
          <p:cNvPr id="23" name="Freeform 23"/>
          <p:cNvSpPr/>
          <p:nvPr/>
        </p:nvSpPr>
        <p:spPr>
          <a:xfrm>
            <a:off x="12125087" y="20691970"/>
            <a:ext cx="663080" cy="663080"/>
          </a:xfrm>
          <a:custGeom>
            <a:avLst/>
            <a:gdLst/>
            <a:ahLst/>
            <a:cxnLst/>
            <a:rect l="l" t="t" r="r" b="b"/>
            <a:pathLst>
              <a:path w="663080" h="663080">
                <a:moveTo>
                  <a:pt x="0" y="0"/>
                </a:moveTo>
                <a:lnTo>
                  <a:pt x="663080" y="0"/>
                </a:lnTo>
                <a:lnTo>
                  <a:pt x="663080" y="663080"/>
                </a:lnTo>
                <a:lnTo>
                  <a:pt x="0" y="66308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SA" dirty="0"/>
          </a:p>
        </p:txBody>
      </p:sp>
      <p:sp>
        <p:nvSpPr>
          <p:cNvPr id="24" name="TextBox 24"/>
          <p:cNvSpPr txBox="1"/>
          <p:nvPr/>
        </p:nvSpPr>
        <p:spPr>
          <a:xfrm>
            <a:off x="66628" y="9616839"/>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الأدوات المستخدمة</a:t>
            </a:r>
          </a:p>
        </p:txBody>
      </p:sp>
      <p:sp>
        <p:nvSpPr>
          <p:cNvPr id="25" name="TextBox 25"/>
          <p:cNvSpPr txBox="1"/>
          <p:nvPr/>
        </p:nvSpPr>
        <p:spPr>
          <a:xfrm>
            <a:off x="7987385" y="7758735"/>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وصف الابتكار </a:t>
            </a:r>
          </a:p>
        </p:txBody>
      </p:sp>
      <p:sp>
        <p:nvSpPr>
          <p:cNvPr id="26" name="TextBox 26"/>
          <p:cNvSpPr txBox="1"/>
          <p:nvPr/>
        </p:nvSpPr>
        <p:spPr>
          <a:xfrm>
            <a:off x="8727415" y="12198096"/>
            <a:ext cx="514365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مزايا الابتكار</a:t>
            </a:r>
          </a:p>
        </p:txBody>
      </p:sp>
      <p:sp>
        <p:nvSpPr>
          <p:cNvPr id="27" name="TextBox 27"/>
          <p:cNvSpPr txBox="1"/>
          <p:nvPr/>
        </p:nvSpPr>
        <p:spPr>
          <a:xfrm>
            <a:off x="8017930" y="8554099"/>
            <a:ext cx="6562622" cy="2567306"/>
          </a:xfrm>
          <a:prstGeom prst="rect">
            <a:avLst/>
          </a:prstGeom>
        </p:spPr>
        <p:txBody>
          <a:bodyPr lIns="0" tIns="0" rIns="0" bIns="0" rtlCol="0" anchor="t">
            <a:spAutoFit/>
          </a:bodyPr>
          <a:lstStyle/>
          <a:p>
            <a:pPr algn="just" rtl="1">
              <a:lnSpc>
                <a:spcPts val="4079"/>
              </a:lnSpc>
            </a:pPr>
            <a:r>
              <a:rPr lang="ar-SA" sz="2400" dirty="0">
                <a:latin typeface="Almarai" panose="020B0604020202020204" charset="-78"/>
                <a:cs typeface="Almarai" panose="020B0604020202020204" charset="-78"/>
              </a:rPr>
              <a:t>نظام ذكي مدمج يعتمد على تقنيات الذكاء الاصطناعي وجهاز </a:t>
            </a:r>
            <a:r>
              <a:rPr lang="en-US" sz="2400" dirty="0">
                <a:latin typeface="Almarai" panose="020B0604020202020204" charset="-78"/>
                <a:cs typeface="Almarai" panose="020B0604020202020204" charset="-78"/>
              </a:rPr>
              <a:t>Raspberry pi 5 </a:t>
            </a:r>
            <a:r>
              <a:rPr lang="ar-SA" sz="2400" dirty="0">
                <a:latin typeface="Almarai" panose="020B0604020202020204" charset="-78"/>
                <a:cs typeface="Almarai" panose="020B0604020202020204" charset="-78"/>
              </a:rPr>
              <a:t>لتحليل صور الرنين المغناطيسي والكشف المبكر عن مرض التصلب اللويحي المتعدد، مدعومًا بلوحة تحكم لإداره بيانات المرضى ومتابعة نتائج التشخيص </a:t>
            </a:r>
            <a:endParaRPr lang="ar-EG" sz="2400" dirty="0">
              <a:solidFill>
                <a:srgbClr val="000000"/>
              </a:solidFill>
              <a:latin typeface="Almarai" panose="020B0604020202020204" charset="-78"/>
              <a:ea typeface="Almarai"/>
              <a:cs typeface="Almarai" panose="020B0604020202020204" charset="-78"/>
              <a:sym typeface="Almarai"/>
              <a:rtl/>
            </a:endParaRPr>
          </a:p>
        </p:txBody>
      </p:sp>
      <p:sp>
        <p:nvSpPr>
          <p:cNvPr id="28" name="TextBox 28"/>
          <p:cNvSpPr txBox="1"/>
          <p:nvPr/>
        </p:nvSpPr>
        <p:spPr>
          <a:xfrm>
            <a:off x="0" y="3849917"/>
            <a:ext cx="6126062"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صورة الابتكار </a:t>
            </a:r>
          </a:p>
        </p:txBody>
      </p:sp>
      <p:sp>
        <p:nvSpPr>
          <p:cNvPr id="29" name="TextBox 29"/>
          <p:cNvSpPr txBox="1"/>
          <p:nvPr/>
        </p:nvSpPr>
        <p:spPr>
          <a:xfrm>
            <a:off x="12700" y="1209026"/>
            <a:ext cx="8087072" cy="1410643"/>
          </a:xfrm>
          <a:prstGeom prst="rect">
            <a:avLst/>
          </a:prstGeom>
        </p:spPr>
        <p:txBody>
          <a:bodyPr wrap="square" lIns="0" tIns="0" rIns="0" bIns="0" rtlCol="0" anchor="t">
            <a:spAutoFit/>
          </a:bodyPr>
          <a:lstStyle/>
          <a:p>
            <a:pPr algn="ctr" rtl="1">
              <a:lnSpc>
                <a:spcPts val="5599"/>
              </a:lnSpc>
            </a:pPr>
            <a:r>
              <a:rPr lang="en-US" sz="3999" b="1" dirty="0">
                <a:solidFill>
                  <a:srgbClr val="9F8B5D"/>
                </a:solidFill>
                <a:latin typeface="Almarai Bold"/>
                <a:ea typeface="Almarai Bold"/>
                <a:cs typeface="Almarai Bold"/>
                <a:sym typeface="Almarai Bold"/>
                <a:rtl/>
              </a:rPr>
              <a:t>MS </a:t>
            </a:r>
            <a:r>
              <a:rPr lang="en-US" sz="3999" b="1" dirty="0" err="1">
                <a:solidFill>
                  <a:srgbClr val="9F8B5D"/>
                </a:solidFill>
                <a:latin typeface="Almarai Bold"/>
                <a:ea typeface="Almarai Bold"/>
                <a:cs typeface="Almarai Bold"/>
                <a:sym typeface="Almarai Bold"/>
                <a:rtl/>
              </a:rPr>
              <a:t>SmartScan</a:t>
            </a:r>
            <a:endParaRPr lang="en-US" sz="3999" b="1" dirty="0">
              <a:solidFill>
                <a:srgbClr val="9F8B5D"/>
              </a:solidFill>
              <a:latin typeface="Almarai Bold"/>
              <a:ea typeface="Almarai Bold"/>
              <a:cs typeface="Almarai Bold"/>
              <a:sym typeface="Almarai Bold"/>
              <a:rtl/>
            </a:endParaRPr>
          </a:p>
          <a:p>
            <a:pPr algn="ctr" rtl="1">
              <a:lnSpc>
                <a:spcPts val="5599"/>
              </a:lnSpc>
            </a:pPr>
            <a:endParaRPr lang="ar-EG" sz="3999" b="1" dirty="0">
              <a:solidFill>
                <a:srgbClr val="9F8B5D"/>
              </a:solidFill>
              <a:latin typeface="Almarai Bold"/>
              <a:ea typeface="Almarai Bold"/>
              <a:cs typeface="Almarai Bold"/>
              <a:sym typeface="Almarai Bold"/>
              <a:rtl/>
            </a:endParaRPr>
          </a:p>
        </p:txBody>
      </p:sp>
      <p:sp>
        <p:nvSpPr>
          <p:cNvPr id="31" name="TextBox 31"/>
          <p:cNvSpPr txBox="1"/>
          <p:nvPr/>
        </p:nvSpPr>
        <p:spPr>
          <a:xfrm>
            <a:off x="8312224" y="19426867"/>
            <a:ext cx="3680281" cy="410369"/>
          </a:xfrm>
          <a:prstGeom prst="rect">
            <a:avLst/>
          </a:prstGeom>
        </p:spPr>
        <p:txBody>
          <a:bodyPr wrap="square" lIns="0" tIns="0" rIns="0" bIns="0" rtlCol="0" anchor="t">
            <a:spAutoFit/>
          </a:bodyPr>
          <a:lstStyle/>
          <a:p>
            <a:pPr algn="r" rtl="1">
              <a:lnSpc>
                <a:spcPts val="3220"/>
              </a:lnSpc>
              <a:spcBef>
                <a:spcPct val="0"/>
              </a:spcBef>
            </a:pPr>
            <a:r>
              <a:rPr lang="ar-SA" sz="2300" b="1" spc="-16" dirty="0">
                <a:latin typeface="Almarai Bold"/>
                <a:ea typeface="Almarai Bold"/>
                <a:cs typeface="Almarai Bold"/>
                <a:sym typeface="Almarai Bold"/>
                <a:rtl/>
              </a:rPr>
              <a:t>القائده: مروة عبدالله سبعي</a:t>
            </a:r>
            <a:endParaRPr lang="ar-EG" sz="2300" b="1" spc="-16" dirty="0">
              <a:latin typeface="Almarai Bold"/>
              <a:ea typeface="Almarai Bold"/>
              <a:cs typeface="Almarai Bold"/>
              <a:sym typeface="Almarai Bold"/>
              <a:rtl/>
            </a:endParaRPr>
          </a:p>
        </p:txBody>
      </p:sp>
      <p:sp>
        <p:nvSpPr>
          <p:cNvPr id="32" name="TextBox 32"/>
          <p:cNvSpPr txBox="1"/>
          <p:nvPr/>
        </p:nvSpPr>
        <p:spPr>
          <a:xfrm>
            <a:off x="8330661" y="20162820"/>
            <a:ext cx="3860796" cy="396262"/>
          </a:xfrm>
          <a:prstGeom prst="rect">
            <a:avLst/>
          </a:prstGeom>
        </p:spPr>
        <p:txBody>
          <a:bodyPr wrap="square"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رقم التواصل:0560226557</a:t>
            </a:r>
            <a:endParaRPr lang="ar-EG" sz="2300" b="1" spc="-16" dirty="0">
              <a:latin typeface="Almarai Bold"/>
              <a:ea typeface="Almarai Bold"/>
              <a:cs typeface="Almarai Bold"/>
              <a:sym typeface="Almarai Bold"/>
              <a:rtl/>
            </a:endParaRPr>
          </a:p>
        </p:txBody>
      </p:sp>
      <p:sp>
        <p:nvSpPr>
          <p:cNvPr id="33" name="TextBox 33"/>
          <p:cNvSpPr txBox="1"/>
          <p:nvPr/>
        </p:nvSpPr>
        <p:spPr>
          <a:xfrm>
            <a:off x="7632973" y="20944681"/>
            <a:ext cx="4359532" cy="410369"/>
          </a:xfrm>
          <a:prstGeom prst="rect">
            <a:avLst/>
          </a:prstGeom>
        </p:spPr>
        <p:txBody>
          <a:bodyPr wrap="square"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الكلية التقنية الرقمية للبنات بالرياض </a:t>
            </a:r>
            <a:endParaRPr lang="ar-EG" sz="2300" b="1" spc="-16" dirty="0">
              <a:latin typeface="Almarai Bold"/>
              <a:ea typeface="Almarai Bold"/>
              <a:cs typeface="Almarai Bold"/>
              <a:sym typeface="Almarai Bold"/>
              <a:rtl/>
            </a:endParaRPr>
          </a:p>
        </p:txBody>
      </p:sp>
      <p:sp>
        <p:nvSpPr>
          <p:cNvPr id="37" name="TextBox 37"/>
          <p:cNvSpPr txBox="1"/>
          <p:nvPr/>
        </p:nvSpPr>
        <p:spPr>
          <a:xfrm>
            <a:off x="8099772" y="12905114"/>
            <a:ext cx="6562622" cy="4526817"/>
          </a:xfrm>
          <a:prstGeom prst="rect">
            <a:avLst/>
          </a:prstGeom>
        </p:spPr>
        <p:txBody>
          <a:bodyPr lIns="0" tIns="0" rIns="0" bIns="0" rtlCol="0" anchor="t">
            <a:spAutoFit/>
          </a:bodyPr>
          <a:lstStyle/>
          <a:p>
            <a:pPr marL="285750" indent="-285750" algn="r" rtl="1">
              <a:buFont typeface="Arial" panose="020B0604020202020204" pitchFamily="34" charset="0"/>
              <a:buChar char="•"/>
            </a:pPr>
            <a:r>
              <a:rPr lang="ar-SA" sz="2400" b="1" dirty="0">
                <a:latin typeface="Almarai" panose="020B0604020202020204" charset="-78"/>
                <a:cs typeface="Almarai" panose="020B0604020202020204" charset="-78"/>
              </a:rPr>
              <a:t>الدقه والموضوعية </a:t>
            </a:r>
            <a:r>
              <a:rPr lang="ar-SA" sz="2400" dirty="0">
                <a:latin typeface="Almarai" panose="020B0604020202020204" charset="-78"/>
                <a:cs typeface="Almarai" panose="020B0604020202020204" charset="-78"/>
              </a:rPr>
              <a:t>تقليل نسبه الخطأ البشري في التشخيص</a:t>
            </a:r>
          </a:p>
          <a:p>
            <a:pPr marL="285750" indent="-285750" algn="r" rtl="1">
              <a:buFont typeface="Arial" panose="020B0604020202020204" pitchFamily="34" charset="0"/>
              <a:buChar char="•"/>
            </a:pPr>
            <a:r>
              <a:rPr lang="ar-SA" sz="2400" b="1" dirty="0">
                <a:latin typeface="Almarai" panose="020B0604020202020204" charset="-78"/>
                <a:cs typeface="Almarai" panose="020B0604020202020204" charset="-78"/>
              </a:rPr>
              <a:t>السرعة </a:t>
            </a:r>
            <a:r>
              <a:rPr lang="ar-SA" sz="2400" dirty="0">
                <a:latin typeface="Almarai" panose="020B0604020202020204" charset="-78"/>
                <a:cs typeface="Almarai" panose="020B0604020202020204" charset="-78"/>
              </a:rPr>
              <a:t>تحليل صور الرنين المغناطيسي في وقت قصير</a:t>
            </a:r>
          </a:p>
          <a:p>
            <a:pPr marL="285750" indent="-285750" algn="r" rtl="1">
              <a:buFont typeface="Arial" panose="020B0604020202020204" pitchFamily="34" charset="0"/>
              <a:buChar char="•"/>
            </a:pPr>
            <a:r>
              <a:rPr lang="ar-SA" sz="2400" b="1" dirty="0">
                <a:latin typeface="Almarai" panose="020B0604020202020204" charset="-78"/>
                <a:cs typeface="Almarai" panose="020B0604020202020204" charset="-78"/>
              </a:rPr>
              <a:t>الكشف المبكر </a:t>
            </a:r>
            <a:r>
              <a:rPr lang="ar-SA" sz="2400" dirty="0">
                <a:latin typeface="Almarai" panose="020B0604020202020204" charset="-78"/>
                <a:cs typeface="Almarai" panose="020B0604020202020204" charset="-78"/>
              </a:rPr>
              <a:t>اكتشاف المرض في مراحلة الاولى</a:t>
            </a:r>
          </a:p>
          <a:p>
            <a:pPr marL="285750" indent="-285750" algn="r" rtl="1">
              <a:buFont typeface="Arial" panose="020B0604020202020204" pitchFamily="34" charset="0"/>
              <a:buChar char="•"/>
            </a:pPr>
            <a:r>
              <a:rPr lang="ar-SA" sz="2400" b="1" dirty="0">
                <a:latin typeface="Almarai" panose="020B0604020202020204" charset="-78"/>
                <a:cs typeface="Almarai" panose="020B0604020202020204" charset="-78"/>
              </a:rPr>
              <a:t>التكلفة المنخفضة</a:t>
            </a:r>
            <a:r>
              <a:rPr lang="ar-SA" sz="2400" dirty="0">
                <a:latin typeface="Almarai" panose="020B0604020202020204" charset="-78"/>
                <a:cs typeface="Almarai" panose="020B0604020202020204" charset="-78"/>
              </a:rPr>
              <a:t> اعتماده على جهاز </a:t>
            </a:r>
            <a:r>
              <a:rPr lang="en-US" sz="2400" dirty="0">
                <a:latin typeface="Almarai" panose="020B0604020202020204" charset="-78"/>
                <a:cs typeface="Almarai" panose="020B0604020202020204" charset="-78"/>
              </a:rPr>
              <a:t>Raspberry pi </a:t>
            </a:r>
            <a:r>
              <a:rPr lang="ar-SA" sz="2400" dirty="0">
                <a:latin typeface="Almarai" panose="020B0604020202020204" charset="-78"/>
                <a:cs typeface="Almarai" panose="020B0604020202020204" charset="-78"/>
              </a:rPr>
              <a:t>يجهله اقتصاديا مقارنة بالأنظمة التقليديه</a:t>
            </a:r>
          </a:p>
          <a:p>
            <a:pPr marL="285750" indent="-285750" algn="r" rtl="1">
              <a:buFont typeface="Arial" panose="020B0604020202020204" pitchFamily="34" charset="0"/>
              <a:buChar char="•"/>
            </a:pPr>
            <a:r>
              <a:rPr lang="ar-SA" sz="2400" b="1" dirty="0">
                <a:latin typeface="Almarai" panose="020B0604020202020204" charset="-78"/>
                <a:cs typeface="Almarai" panose="020B0604020202020204" charset="-78"/>
              </a:rPr>
              <a:t>سهوله الاستخدام </a:t>
            </a:r>
            <a:r>
              <a:rPr lang="ar-SA" sz="2400" dirty="0">
                <a:latin typeface="Almarai" panose="020B0604020202020204" charset="-78"/>
                <a:cs typeface="Almarai" panose="020B0604020202020204" charset="-78"/>
              </a:rPr>
              <a:t>واجهة بسيطة لا تتطلب خبرة تقنية عالية</a:t>
            </a:r>
          </a:p>
          <a:p>
            <a:pPr marL="285750" indent="-285750" algn="r" rtl="1">
              <a:buFont typeface="Arial" panose="020B0604020202020204" pitchFamily="34" charset="0"/>
              <a:buChar char="•"/>
            </a:pPr>
            <a:r>
              <a:rPr lang="ar-SA" sz="2400" b="1" dirty="0">
                <a:latin typeface="Almarai" panose="020B0604020202020204" charset="-78"/>
                <a:cs typeface="Almarai" panose="020B0604020202020204" charset="-78"/>
              </a:rPr>
              <a:t>ادارة المرضى</a:t>
            </a:r>
            <a:r>
              <a:rPr lang="ar-SA" sz="2400" dirty="0">
                <a:latin typeface="Almarai" panose="020B0604020202020204" charset="-78"/>
                <a:cs typeface="Almarai" panose="020B0604020202020204" charset="-78"/>
              </a:rPr>
              <a:t> لوحة تحكم متكاملة لمتابعة الحالات والنتائج</a:t>
            </a:r>
          </a:p>
          <a:p>
            <a:pPr marL="342900" indent="-342900" algn="r" rtl="1">
              <a:lnSpc>
                <a:spcPts val="4079"/>
              </a:lnSpc>
              <a:buFont typeface="Arial" panose="020B0604020202020204" pitchFamily="34" charset="0"/>
              <a:buChar char="•"/>
            </a:pPr>
            <a:endParaRPr lang="ar-EG" sz="2400" dirty="0">
              <a:solidFill>
                <a:srgbClr val="000000"/>
              </a:solidFill>
              <a:latin typeface="Almarai" panose="020B0604020202020204" charset="-78"/>
              <a:ea typeface="Almarai"/>
              <a:cs typeface="Almarai" panose="020B0604020202020204" charset="-78"/>
              <a:sym typeface="Almarai"/>
              <a:rtl/>
            </a:endParaRPr>
          </a:p>
        </p:txBody>
      </p:sp>
      <p:sp>
        <p:nvSpPr>
          <p:cNvPr id="134" name="Freeform 36">
            <a:extLst>
              <a:ext uri="{FF2B5EF4-FFF2-40B4-BE49-F238E27FC236}">
                <a16:creationId xmlns:a16="http://schemas.microsoft.com/office/drawing/2014/main" id="{16C6AB1F-256A-329C-CF3C-A92135A8E366}"/>
              </a:ext>
            </a:extLst>
          </p:cNvPr>
          <p:cNvSpPr/>
          <p:nvPr/>
        </p:nvSpPr>
        <p:spPr>
          <a:xfrm>
            <a:off x="14079299" y="12172859"/>
            <a:ext cx="454877" cy="638220"/>
          </a:xfrm>
          <a:custGeom>
            <a:avLst/>
            <a:gdLst/>
            <a:ahLst/>
            <a:cxnLst/>
            <a:rect l="l" t="t" r="r" b="b"/>
            <a:pathLst>
              <a:path w="454877" h="638220">
                <a:moveTo>
                  <a:pt x="0" y="0"/>
                </a:moveTo>
                <a:lnTo>
                  <a:pt x="454877" y="0"/>
                </a:lnTo>
                <a:lnTo>
                  <a:pt x="454877" y="638220"/>
                </a:lnTo>
                <a:lnTo>
                  <a:pt x="0" y="63822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36" name="Freeform 19">
            <a:extLst>
              <a:ext uri="{FF2B5EF4-FFF2-40B4-BE49-F238E27FC236}">
                <a16:creationId xmlns:a16="http://schemas.microsoft.com/office/drawing/2014/main" id="{875951CE-AE4F-3F73-A590-3A10FC9F26B5}"/>
              </a:ext>
            </a:extLst>
          </p:cNvPr>
          <p:cNvSpPr/>
          <p:nvPr/>
        </p:nvSpPr>
        <p:spPr>
          <a:xfrm>
            <a:off x="8854359" y="668475"/>
            <a:ext cx="5603420" cy="2147324"/>
          </a:xfrm>
          <a:custGeom>
            <a:avLst/>
            <a:gdLst/>
            <a:ahLst/>
            <a:cxnLst/>
            <a:rect l="l" t="t" r="r" b="b"/>
            <a:pathLst>
              <a:path w="4732483" h="1839826">
                <a:moveTo>
                  <a:pt x="0" y="0"/>
                </a:moveTo>
                <a:lnTo>
                  <a:pt x="4732482" y="0"/>
                </a:lnTo>
                <a:lnTo>
                  <a:pt x="4732482" y="1839826"/>
                </a:lnTo>
                <a:lnTo>
                  <a:pt x="0" y="1839826"/>
                </a:lnTo>
                <a:lnTo>
                  <a:pt x="0" y="0"/>
                </a:lnTo>
                <a:close/>
              </a:path>
            </a:pathLst>
          </a:custGeom>
          <a:blipFill>
            <a:blip>
              <a:extLst>
                <a:ext uri="{96DAC541-7B7A-43D3-8B79-37D633B846F1}">
                  <asvg:svgBlip xmlns:asvg="http://schemas.microsoft.com/office/drawing/2016/SVG/main" r:embed="rId8"/>
                </a:ext>
              </a:extLst>
            </a:blip>
            <a:stretch>
              <a:fillRect l="-7612" r="-10339"/>
            </a:stretch>
          </a:blipFill>
        </p:spPr>
        <p:txBody>
          <a:bodyPr/>
          <a:lstStyle/>
          <a:p>
            <a:endParaRPr lang="en-US"/>
          </a:p>
        </p:txBody>
      </p:sp>
      <p:grpSp>
        <p:nvGrpSpPr>
          <p:cNvPr id="137" name="Group 5">
            <a:extLst>
              <a:ext uri="{FF2B5EF4-FFF2-40B4-BE49-F238E27FC236}">
                <a16:creationId xmlns:a16="http://schemas.microsoft.com/office/drawing/2014/main" id="{D64B39EB-5BEF-9489-83AB-B8F9177050E8}"/>
              </a:ext>
            </a:extLst>
          </p:cNvPr>
          <p:cNvGrpSpPr>
            <a:grpSpLocks noChangeAspect="1"/>
          </p:cNvGrpSpPr>
          <p:nvPr/>
        </p:nvGrpSpPr>
        <p:grpSpPr>
          <a:xfrm>
            <a:off x="-19700" y="18437437"/>
            <a:ext cx="15120000" cy="134697"/>
            <a:chOff x="0" y="0"/>
            <a:chExt cx="21384006" cy="190500"/>
          </a:xfrm>
          <a:solidFill>
            <a:srgbClr val="9F8B5D"/>
          </a:solidFill>
        </p:grpSpPr>
        <p:sp>
          <p:nvSpPr>
            <p:cNvPr id="138" name="Freeform 6">
              <a:extLst>
                <a:ext uri="{FF2B5EF4-FFF2-40B4-BE49-F238E27FC236}">
                  <a16:creationId xmlns:a16="http://schemas.microsoft.com/office/drawing/2014/main" id="{B8FB6E0D-EA7C-D733-4329-13DE3CE74386}"/>
                </a:ext>
              </a:extLst>
            </p:cNvPr>
            <p:cNvSpPr/>
            <p:nvPr/>
          </p:nvSpPr>
          <p:spPr>
            <a:xfrm>
              <a:off x="0" y="0"/>
              <a:ext cx="21384006" cy="190500"/>
            </a:xfrm>
            <a:custGeom>
              <a:avLst/>
              <a:gdLst/>
              <a:ahLst/>
              <a:cxnLst/>
              <a:rect l="l" t="t" r="r" b="b"/>
              <a:pathLst>
                <a:path w="21384006" h="190500">
                  <a:moveTo>
                    <a:pt x="0" y="0"/>
                  </a:moveTo>
                  <a:lnTo>
                    <a:pt x="0" y="190500"/>
                  </a:lnTo>
                  <a:lnTo>
                    <a:pt x="21384006" y="190500"/>
                  </a:lnTo>
                  <a:lnTo>
                    <a:pt x="21384006" y="0"/>
                  </a:lnTo>
                  <a:close/>
                </a:path>
              </a:pathLst>
            </a:custGeom>
            <a:grpFill/>
            <a:ln>
              <a:solidFill>
                <a:srgbClr val="9F8B5D"/>
              </a:solidFill>
            </a:ln>
          </p:spPr>
          <p:txBody>
            <a:bodyPr/>
            <a:lstStyle/>
            <a:p>
              <a:endParaRPr lang="ar-SA"/>
            </a:p>
          </p:txBody>
        </p:sp>
      </p:grpSp>
      <p:grpSp>
        <p:nvGrpSpPr>
          <p:cNvPr id="139" name="Group 5">
            <a:extLst>
              <a:ext uri="{FF2B5EF4-FFF2-40B4-BE49-F238E27FC236}">
                <a16:creationId xmlns:a16="http://schemas.microsoft.com/office/drawing/2014/main" id="{8357A6E7-008A-E606-D444-BF648A0C6B56}"/>
              </a:ext>
            </a:extLst>
          </p:cNvPr>
          <p:cNvGrpSpPr>
            <a:grpSpLocks noChangeAspect="1"/>
          </p:cNvGrpSpPr>
          <p:nvPr/>
        </p:nvGrpSpPr>
        <p:grpSpPr>
          <a:xfrm>
            <a:off x="12700" y="3394347"/>
            <a:ext cx="15120000" cy="134697"/>
            <a:chOff x="0" y="0"/>
            <a:chExt cx="21384006" cy="190500"/>
          </a:xfrm>
          <a:solidFill>
            <a:srgbClr val="9F8B5D"/>
          </a:solidFill>
        </p:grpSpPr>
        <p:sp>
          <p:nvSpPr>
            <p:cNvPr id="140" name="Freeform 6">
              <a:extLst>
                <a:ext uri="{FF2B5EF4-FFF2-40B4-BE49-F238E27FC236}">
                  <a16:creationId xmlns:a16="http://schemas.microsoft.com/office/drawing/2014/main" id="{9E4BEB39-BA3F-5226-310F-B2B89BC2C775}"/>
                </a:ext>
              </a:extLst>
            </p:cNvPr>
            <p:cNvSpPr/>
            <p:nvPr/>
          </p:nvSpPr>
          <p:spPr>
            <a:xfrm>
              <a:off x="0" y="0"/>
              <a:ext cx="21384006" cy="190500"/>
            </a:xfrm>
            <a:custGeom>
              <a:avLst/>
              <a:gdLst/>
              <a:ahLst/>
              <a:cxnLst/>
              <a:rect l="l" t="t" r="r" b="b"/>
              <a:pathLst>
                <a:path w="21384006" h="190500">
                  <a:moveTo>
                    <a:pt x="0" y="0"/>
                  </a:moveTo>
                  <a:lnTo>
                    <a:pt x="0" y="190500"/>
                  </a:lnTo>
                  <a:lnTo>
                    <a:pt x="21384006" y="190500"/>
                  </a:lnTo>
                  <a:lnTo>
                    <a:pt x="21384006" y="0"/>
                  </a:lnTo>
                  <a:close/>
                </a:path>
              </a:pathLst>
            </a:custGeom>
            <a:grpFill/>
            <a:ln>
              <a:solidFill>
                <a:srgbClr val="9F8B5D"/>
              </a:solidFill>
            </a:ln>
          </p:spPr>
          <p:txBody>
            <a:bodyPr/>
            <a:lstStyle/>
            <a:p>
              <a:endParaRPr lang="ar-SA"/>
            </a:p>
          </p:txBody>
        </p:sp>
      </p:grpSp>
      <p:sp>
        <p:nvSpPr>
          <p:cNvPr id="141" name="Freeform 11">
            <a:extLst>
              <a:ext uri="{FF2B5EF4-FFF2-40B4-BE49-F238E27FC236}">
                <a16:creationId xmlns:a16="http://schemas.microsoft.com/office/drawing/2014/main" id="{AAEDBC5D-01EA-8EBD-75FD-23E7A8F5894F}"/>
              </a:ext>
            </a:extLst>
          </p:cNvPr>
          <p:cNvSpPr/>
          <p:nvPr/>
        </p:nvSpPr>
        <p:spPr>
          <a:xfrm>
            <a:off x="3147023" y="18719519"/>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42" name="Freeform 12">
            <a:extLst>
              <a:ext uri="{FF2B5EF4-FFF2-40B4-BE49-F238E27FC236}">
                <a16:creationId xmlns:a16="http://schemas.microsoft.com/office/drawing/2014/main" id="{798876FB-E590-3C03-C884-8B70C04B4635}"/>
              </a:ext>
            </a:extLst>
          </p:cNvPr>
          <p:cNvSpPr/>
          <p:nvPr/>
        </p:nvSpPr>
        <p:spPr>
          <a:xfrm>
            <a:off x="6728423" y="19386858"/>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44" name="TextBox 30">
            <a:extLst>
              <a:ext uri="{FF2B5EF4-FFF2-40B4-BE49-F238E27FC236}">
                <a16:creationId xmlns:a16="http://schemas.microsoft.com/office/drawing/2014/main" id="{12245288-48DD-16E0-6449-70F6E50C79C8}"/>
              </a:ext>
            </a:extLst>
          </p:cNvPr>
          <p:cNvSpPr txBox="1"/>
          <p:nvPr/>
        </p:nvSpPr>
        <p:spPr>
          <a:xfrm>
            <a:off x="3454864" y="18760195"/>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المتدربة: منى الحربي</a:t>
            </a:r>
            <a:endParaRPr lang="ar-EG" sz="2300" b="1" spc="-16" dirty="0">
              <a:latin typeface="Almarai Bold"/>
              <a:ea typeface="Almarai Bold"/>
              <a:cs typeface="Almarai Bold"/>
              <a:sym typeface="Almarai Bold"/>
              <a:rtl/>
            </a:endParaRPr>
          </a:p>
        </p:txBody>
      </p:sp>
      <p:sp>
        <p:nvSpPr>
          <p:cNvPr id="9" name="TextBox 30">
            <a:extLst>
              <a:ext uri="{FF2B5EF4-FFF2-40B4-BE49-F238E27FC236}">
                <a16:creationId xmlns:a16="http://schemas.microsoft.com/office/drawing/2014/main" id="{E5C0B747-CC90-CEAF-E648-134AF3722D12}"/>
              </a:ext>
            </a:extLst>
          </p:cNvPr>
          <p:cNvSpPr txBox="1"/>
          <p:nvPr/>
        </p:nvSpPr>
        <p:spPr>
          <a:xfrm>
            <a:off x="3378664" y="19457310"/>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المتدربة:لمى القحطاني</a:t>
            </a:r>
            <a:endParaRPr lang="ar-EG" sz="2300" b="1" spc="-16" dirty="0">
              <a:latin typeface="Almarai Bold"/>
              <a:ea typeface="Almarai Bold"/>
              <a:cs typeface="Almarai Bold"/>
              <a:sym typeface="Almarai Bold"/>
              <a:rtl/>
            </a:endParaRPr>
          </a:p>
        </p:txBody>
      </p:sp>
      <p:sp>
        <p:nvSpPr>
          <p:cNvPr id="10" name="Freeform 12">
            <a:extLst>
              <a:ext uri="{FF2B5EF4-FFF2-40B4-BE49-F238E27FC236}">
                <a16:creationId xmlns:a16="http://schemas.microsoft.com/office/drawing/2014/main" id="{AD7F8415-D08C-0430-1DF9-57F3F397A489}"/>
              </a:ext>
            </a:extLst>
          </p:cNvPr>
          <p:cNvSpPr/>
          <p:nvPr/>
        </p:nvSpPr>
        <p:spPr>
          <a:xfrm>
            <a:off x="6718300" y="20072658"/>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11" name="TextBox 30">
            <a:extLst>
              <a:ext uri="{FF2B5EF4-FFF2-40B4-BE49-F238E27FC236}">
                <a16:creationId xmlns:a16="http://schemas.microsoft.com/office/drawing/2014/main" id="{49B8C32C-805D-1360-50E1-0631E1BC8D45}"/>
              </a:ext>
            </a:extLst>
          </p:cNvPr>
          <p:cNvSpPr txBox="1"/>
          <p:nvPr/>
        </p:nvSpPr>
        <p:spPr>
          <a:xfrm>
            <a:off x="3363455" y="20143110"/>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المتدربة: لجين حكمي</a:t>
            </a:r>
            <a:endParaRPr lang="ar-EG" sz="2300" b="1" spc="-16" dirty="0">
              <a:latin typeface="Almarai Bold"/>
              <a:ea typeface="Almarai Bold"/>
              <a:cs typeface="Almarai Bold"/>
              <a:sym typeface="Almarai Bold"/>
              <a:rtl/>
            </a:endParaRPr>
          </a:p>
        </p:txBody>
      </p:sp>
      <p:sp>
        <p:nvSpPr>
          <p:cNvPr id="13" name="TextBox 24">
            <a:extLst>
              <a:ext uri="{FF2B5EF4-FFF2-40B4-BE49-F238E27FC236}">
                <a16:creationId xmlns:a16="http://schemas.microsoft.com/office/drawing/2014/main" id="{4C3C93B5-804B-03E2-54B6-060AF581DCC3}"/>
              </a:ext>
            </a:extLst>
          </p:cNvPr>
          <p:cNvSpPr txBox="1"/>
          <p:nvPr/>
        </p:nvSpPr>
        <p:spPr>
          <a:xfrm>
            <a:off x="450606" y="15139416"/>
            <a:ext cx="6126062" cy="521552"/>
          </a:xfrm>
          <a:prstGeom prst="rect">
            <a:avLst/>
          </a:prstGeom>
        </p:spPr>
        <p:txBody>
          <a:bodyPr lIns="0" tIns="0" rIns="0" bIns="0" rtlCol="0" anchor="t">
            <a:spAutoFit/>
          </a:bodyPr>
          <a:lstStyle/>
          <a:p>
            <a:pPr algn="r" rtl="1">
              <a:lnSpc>
                <a:spcPts val="4153"/>
              </a:lnSpc>
            </a:pPr>
            <a:r>
              <a:rPr lang="ar-SA" sz="2966" b="1" spc="-20" dirty="0">
                <a:solidFill>
                  <a:srgbClr val="9F8B5D"/>
                </a:solidFill>
                <a:latin typeface="Almarai Bold"/>
                <a:ea typeface="Almarai Bold"/>
                <a:cs typeface="Almarai Bold"/>
                <a:sym typeface="Almarai Bold"/>
                <a:rtl/>
              </a:rPr>
              <a:t>التطوير المستقبلي</a:t>
            </a:r>
            <a:endParaRPr lang="ar-EG" sz="2966" b="1" spc="-20" dirty="0">
              <a:solidFill>
                <a:srgbClr val="9F8B5D"/>
              </a:solidFill>
              <a:latin typeface="Almarai Bold"/>
              <a:ea typeface="Almarai Bold"/>
              <a:cs typeface="Almarai Bold"/>
              <a:sym typeface="Almarai Bold"/>
              <a:rtl/>
            </a:endParaRPr>
          </a:p>
        </p:txBody>
      </p:sp>
      <p:sp>
        <p:nvSpPr>
          <p:cNvPr id="14" name="Freeform 13">
            <a:extLst>
              <a:ext uri="{FF2B5EF4-FFF2-40B4-BE49-F238E27FC236}">
                <a16:creationId xmlns:a16="http://schemas.microsoft.com/office/drawing/2014/main" id="{EC9BC47F-FCD3-6B7A-8496-5F64173F235E}"/>
              </a:ext>
            </a:extLst>
          </p:cNvPr>
          <p:cNvSpPr/>
          <p:nvPr/>
        </p:nvSpPr>
        <p:spPr>
          <a:xfrm>
            <a:off x="6807960" y="15049458"/>
            <a:ext cx="444336" cy="521552"/>
          </a:xfrm>
          <a:custGeom>
            <a:avLst/>
            <a:gdLst/>
            <a:ahLst/>
            <a:cxnLst/>
            <a:rect l="l" t="t" r="r" b="b"/>
            <a:pathLst>
              <a:path w="454877" h="454877">
                <a:moveTo>
                  <a:pt x="0" y="0"/>
                </a:moveTo>
                <a:lnTo>
                  <a:pt x="454877" y="0"/>
                </a:lnTo>
                <a:lnTo>
                  <a:pt x="454877" y="454877"/>
                </a:lnTo>
                <a:lnTo>
                  <a:pt x="0" y="454877"/>
                </a:lnTo>
                <a:lnTo>
                  <a:pt x="0" y="0"/>
                </a:lnTo>
                <a:close/>
              </a:path>
            </a:pathLst>
          </a:custGeom>
          <a:blipFill>
            <a:blip>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5" name="TextBox 37">
            <a:extLst>
              <a:ext uri="{FF2B5EF4-FFF2-40B4-BE49-F238E27FC236}">
                <a16:creationId xmlns:a16="http://schemas.microsoft.com/office/drawing/2014/main" id="{972260C1-6F04-3594-B9E6-5586224579F8}"/>
              </a:ext>
            </a:extLst>
          </p:cNvPr>
          <p:cNvSpPr txBox="1"/>
          <p:nvPr/>
        </p:nvSpPr>
        <p:spPr>
          <a:xfrm>
            <a:off x="520731" y="15640050"/>
            <a:ext cx="6562622" cy="2567306"/>
          </a:xfrm>
          <a:prstGeom prst="rect">
            <a:avLst/>
          </a:prstGeom>
        </p:spPr>
        <p:txBody>
          <a:bodyPr lIns="0" tIns="0" rIns="0" bIns="0" rtlCol="0" anchor="t">
            <a:spAutoFit/>
          </a:bodyPr>
          <a:lstStyle/>
          <a:p>
            <a:pPr algn="just" rtl="1">
              <a:lnSpc>
                <a:spcPts val="4079"/>
              </a:lnSpc>
            </a:pPr>
            <a:r>
              <a:rPr lang="ar-SA" sz="2400" dirty="0">
                <a:latin typeface="Almarai" panose="020B0604020202020204" charset="-78"/>
                <a:cs typeface="Almarai" panose="020B0604020202020204" charset="-78"/>
              </a:rPr>
              <a:t>يخطط لتطوير النظام مستقبلاً ليشمل دعم لتشخيص أمراض عصبية اخرى، وتحسين دقة النموذج عبر تدريبه على قواعد بيانات أوسع، اضافةً إلى ربطه بالسجلات الطبية الإلكترونية للمستشفيات وتطوير تطبيق جوال مرفق لتسهيل الوصول إلى النتائج</a:t>
            </a:r>
            <a:endParaRPr lang="ar-EG" sz="2400" dirty="0">
              <a:solidFill>
                <a:srgbClr val="000000"/>
              </a:solidFill>
              <a:latin typeface="Almarai" panose="020B0604020202020204" charset="-78"/>
              <a:ea typeface="Almarai"/>
              <a:cs typeface="Almarai" panose="020B0604020202020204" charset="-78"/>
              <a:sym typeface="Almarai"/>
              <a:rtl/>
            </a:endParaRPr>
          </a:p>
        </p:txBody>
      </p:sp>
      <p:sp>
        <p:nvSpPr>
          <p:cNvPr id="16" name="TextBox 40">
            <a:extLst>
              <a:ext uri="{FF2B5EF4-FFF2-40B4-BE49-F238E27FC236}">
                <a16:creationId xmlns:a16="http://schemas.microsoft.com/office/drawing/2014/main" id="{01D88AF2-59F2-6E6A-FA15-BC52A119040F}"/>
              </a:ext>
            </a:extLst>
          </p:cNvPr>
          <p:cNvSpPr txBox="1"/>
          <p:nvPr/>
        </p:nvSpPr>
        <p:spPr>
          <a:xfrm>
            <a:off x="1973261" y="2268034"/>
            <a:ext cx="2112070" cy="509370"/>
          </a:xfrm>
          <a:prstGeom prst="rect">
            <a:avLst/>
          </a:prstGeom>
        </p:spPr>
        <p:txBody>
          <a:bodyPr wrap="square" lIns="0" tIns="0" rIns="0" bIns="0" rtlCol="0" anchor="t">
            <a:spAutoFit/>
          </a:bodyPr>
          <a:lstStyle/>
          <a:p>
            <a:pPr algn="ctr">
              <a:lnSpc>
                <a:spcPts val="4620"/>
              </a:lnSpc>
            </a:pPr>
            <a:r>
              <a:rPr lang="ar-SA" sz="2300" dirty="0">
                <a:latin typeface="Almarai"/>
                <a:ea typeface="Almarai"/>
                <a:cs typeface="Almarai"/>
                <a:sym typeface="Almarai"/>
              </a:rPr>
              <a:t>لا يوجد</a:t>
            </a:r>
            <a:endParaRPr lang="en-US" sz="2300" dirty="0">
              <a:latin typeface="Almarai"/>
              <a:ea typeface="Almarai"/>
              <a:cs typeface="Almarai"/>
              <a:sym typeface="Almarai"/>
            </a:endParaRPr>
          </a:p>
        </p:txBody>
      </p:sp>
      <p:sp>
        <p:nvSpPr>
          <p:cNvPr id="21" name="TextBox 43">
            <a:extLst>
              <a:ext uri="{FF2B5EF4-FFF2-40B4-BE49-F238E27FC236}">
                <a16:creationId xmlns:a16="http://schemas.microsoft.com/office/drawing/2014/main" id="{B43308D2-F59C-1FA9-EE9A-16956678E6E7}"/>
              </a:ext>
            </a:extLst>
          </p:cNvPr>
          <p:cNvSpPr txBox="1"/>
          <p:nvPr/>
        </p:nvSpPr>
        <p:spPr>
          <a:xfrm>
            <a:off x="4078431" y="2391065"/>
            <a:ext cx="2576369" cy="410369"/>
          </a:xfrm>
          <a:prstGeom prst="rect">
            <a:avLst/>
          </a:prstGeom>
        </p:spPr>
        <p:txBody>
          <a:bodyPr wrap="square" lIns="0" tIns="0" rIns="0" bIns="0" rtlCol="0" anchor="t">
            <a:spAutoFit/>
          </a:bodyPr>
          <a:lstStyle/>
          <a:p>
            <a:pPr algn="ctr" rtl="1">
              <a:lnSpc>
                <a:spcPts val="3219"/>
              </a:lnSpc>
            </a:pPr>
            <a:r>
              <a:rPr lang="ar-EG" sz="2299" b="1" dirty="0">
                <a:solidFill>
                  <a:srgbClr val="9F8B5D"/>
                </a:solidFill>
                <a:latin typeface="Almarai Bold"/>
                <a:ea typeface="Almarai Bold"/>
                <a:cs typeface="Almarai Bold"/>
                <a:sym typeface="Almarai Bold"/>
                <a:rtl/>
              </a:rPr>
              <a:t>رقم براءة الاختراع</a:t>
            </a:r>
          </a:p>
        </p:txBody>
      </p:sp>
      <p:sp>
        <p:nvSpPr>
          <p:cNvPr id="30" name="سداسي 29">
            <a:extLst>
              <a:ext uri="{FF2B5EF4-FFF2-40B4-BE49-F238E27FC236}">
                <a16:creationId xmlns:a16="http://schemas.microsoft.com/office/drawing/2014/main" id="{6144B987-C9CC-F092-8557-0060058DB86F}"/>
              </a:ext>
            </a:extLst>
          </p:cNvPr>
          <p:cNvSpPr/>
          <p:nvPr/>
        </p:nvSpPr>
        <p:spPr>
          <a:xfrm>
            <a:off x="1973255" y="2322893"/>
            <a:ext cx="2071213" cy="554741"/>
          </a:xfrm>
          <a:prstGeom prst="hexagon">
            <a:avLst/>
          </a:prstGeom>
          <a:noFill/>
          <a:ln w="38100">
            <a:solidFill>
              <a:srgbClr val="9F8B5D"/>
            </a:solid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en-US"/>
          </a:p>
        </p:txBody>
      </p:sp>
      <p:sp>
        <p:nvSpPr>
          <p:cNvPr id="35" name="Freeform 12">
            <a:extLst>
              <a:ext uri="{FF2B5EF4-FFF2-40B4-BE49-F238E27FC236}">
                <a16:creationId xmlns:a16="http://schemas.microsoft.com/office/drawing/2014/main" id="{51CB585B-60E9-00D0-FBD1-63D8B7C42ADC}"/>
              </a:ext>
            </a:extLst>
          </p:cNvPr>
          <p:cNvSpPr/>
          <p:nvPr/>
        </p:nvSpPr>
        <p:spPr>
          <a:xfrm>
            <a:off x="6718300" y="20745450"/>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36" name="TextBox 30">
            <a:extLst>
              <a:ext uri="{FF2B5EF4-FFF2-40B4-BE49-F238E27FC236}">
                <a16:creationId xmlns:a16="http://schemas.microsoft.com/office/drawing/2014/main" id="{23638ADA-DB84-E38E-D2B9-DDA57F76294F}"/>
              </a:ext>
            </a:extLst>
          </p:cNvPr>
          <p:cNvSpPr txBox="1"/>
          <p:nvPr/>
        </p:nvSpPr>
        <p:spPr>
          <a:xfrm>
            <a:off x="3359411" y="20821650"/>
            <a:ext cx="3124431" cy="415972"/>
          </a:xfrm>
          <a:prstGeom prst="rect">
            <a:avLst/>
          </a:prstGeom>
        </p:spPr>
        <p:txBody>
          <a:bodyPr lIns="0" tIns="0" rIns="0" bIns="0" rtlCol="0" anchor="t">
            <a:spAutoFit/>
          </a:bodyPr>
          <a:lstStyle/>
          <a:p>
            <a:pPr algn="ctr" rtl="1">
              <a:lnSpc>
                <a:spcPts val="3220"/>
              </a:lnSpc>
              <a:spcBef>
                <a:spcPct val="0"/>
              </a:spcBef>
            </a:pPr>
            <a:r>
              <a:rPr lang="ar-SA" sz="2300" b="1" spc="-16" dirty="0">
                <a:latin typeface="Almarai Bold"/>
                <a:ea typeface="Almarai Bold"/>
                <a:cs typeface="Almarai Bold"/>
                <a:sym typeface="Almarai Bold"/>
                <a:rtl/>
              </a:rPr>
              <a:t>المتدربة:العنود العنزي</a:t>
            </a:r>
            <a:endParaRPr lang="ar-EG" sz="2300" b="1" spc="-16" dirty="0">
              <a:latin typeface="Almarai Bold"/>
              <a:ea typeface="Almarai Bold"/>
              <a:cs typeface="Almarai Bold"/>
              <a:sym typeface="Almarai Bold"/>
              <a:rtl/>
            </a:endParaRPr>
          </a:p>
        </p:txBody>
      </p:sp>
      <p:sp>
        <p:nvSpPr>
          <p:cNvPr id="5" name="Freeform 11">
            <a:extLst>
              <a:ext uri="{FF2B5EF4-FFF2-40B4-BE49-F238E27FC236}">
                <a16:creationId xmlns:a16="http://schemas.microsoft.com/office/drawing/2014/main" id="{EAD88A8F-8A04-4D72-9275-E2326D946E7C}"/>
              </a:ext>
            </a:extLst>
          </p:cNvPr>
          <p:cNvSpPr/>
          <p:nvPr/>
        </p:nvSpPr>
        <p:spPr>
          <a:xfrm>
            <a:off x="14011261" y="3737111"/>
            <a:ext cx="549139" cy="549139"/>
          </a:xfrm>
          <a:custGeom>
            <a:avLst/>
            <a:gdLst/>
            <a:ahLst/>
            <a:cxnLst/>
            <a:rect l="l" t="t" r="r" b="b"/>
            <a:pathLst>
              <a:path w="549139" h="549139">
                <a:moveTo>
                  <a:pt x="0" y="0"/>
                </a:moveTo>
                <a:lnTo>
                  <a:pt x="549140" y="0"/>
                </a:lnTo>
                <a:lnTo>
                  <a:pt x="549140" y="549139"/>
                </a:lnTo>
                <a:lnTo>
                  <a:pt x="0" y="549139"/>
                </a:lnTo>
                <a:lnTo>
                  <a:pt x="0" y="0"/>
                </a:lnTo>
                <a:close/>
              </a:path>
            </a:pathLst>
          </a:custGeom>
          <a:blipFill>
            <a:blip>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6" name="TextBox 16">
            <a:extLst>
              <a:ext uri="{FF2B5EF4-FFF2-40B4-BE49-F238E27FC236}">
                <a16:creationId xmlns:a16="http://schemas.microsoft.com/office/drawing/2014/main" id="{3F63DEAF-F49F-067A-4E14-F049A3853483}"/>
              </a:ext>
            </a:extLst>
          </p:cNvPr>
          <p:cNvSpPr txBox="1"/>
          <p:nvPr/>
        </p:nvSpPr>
        <p:spPr>
          <a:xfrm>
            <a:off x="7521618" y="3740808"/>
            <a:ext cx="6428804" cy="521552"/>
          </a:xfrm>
          <a:prstGeom prst="rect">
            <a:avLst/>
          </a:prstGeom>
        </p:spPr>
        <p:txBody>
          <a:bodyPr lIns="0" tIns="0" rIns="0" bIns="0" rtlCol="0" anchor="t">
            <a:spAutoFit/>
          </a:bodyPr>
          <a:lstStyle/>
          <a:p>
            <a:pPr algn="r" rtl="1">
              <a:lnSpc>
                <a:spcPts val="4153"/>
              </a:lnSpc>
            </a:pPr>
            <a:r>
              <a:rPr lang="ar-EG" sz="2966" b="1" spc="-20" dirty="0">
                <a:solidFill>
                  <a:srgbClr val="9F8B5D"/>
                </a:solidFill>
                <a:latin typeface="Almarai Bold"/>
                <a:ea typeface="Almarai Bold"/>
                <a:cs typeface="Almarai Bold"/>
                <a:sym typeface="Almarai Bold"/>
                <a:rtl/>
              </a:rPr>
              <a:t>تعريف المشكلة</a:t>
            </a:r>
          </a:p>
        </p:txBody>
      </p:sp>
      <p:sp>
        <p:nvSpPr>
          <p:cNvPr id="12" name="TextBox 27">
            <a:extLst>
              <a:ext uri="{FF2B5EF4-FFF2-40B4-BE49-F238E27FC236}">
                <a16:creationId xmlns:a16="http://schemas.microsoft.com/office/drawing/2014/main" id="{6E74E57C-516E-51A8-8950-6D69107191A1}"/>
              </a:ext>
            </a:extLst>
          </p:cNvPr>
          <p:cNvSpPr txBox="1"/>
          <p:nvPr/>
        </p:nvSpPr>
        <p:spPr>
          <a:xfrm>
            <a:off x="8170330" y="4286250"/>
            <a:ext cx="6562622" cy="2954655"/>
          </a:xfrm>
          <a:prstGeom prst="rect">
            <a:avLst/>
          </a:prstGeom>
        </p:spPr>
        <p:txBody>
          <a:bodyPr lIns="0" tIns="0" rIns="0" bIns="0" rtlCol="0" anchor="t">
            <a:spAutoFit/>
          </a:bodyPr>
          <a:lstStyle/>
          <a:p>
            <a:pPr algn="r"/>
            <a:r>
              <a:rPr lang="ar-SA" sz="2400" dirty="0">
                <a:latin typeface="Almarai" panose="020B0604020202020204" charset="-78"/>
                <a:cs typeface="Almarai" panose="020B0604020202020204" charset="-78"/>
              </a:rPr>
              <a:t>ﻳﻌﺪ ﻣﺮض اﻟﺘﺼﻠﺐ اﻟﻠﻮﻳﺤﻲ ﻣﻦ اﻷﻣﺮاض اﻟﻌﺼﺒﻴﺔ اﻟﺘﻲ ﺗﺴﺘﻮﺟﺐ ﺗﺸﺨﻴﺼﺎً دﻗﻴﻘﺎً وﻣﺒﻜﺮاً، ﻏﻴﺮ أن اﻟﻤﻨﻈﻮﻣﺔ اﻟﺼﺤﻴﺔ اﻟﺤﺎﻟﻴﺔ ﺗﻮاﺟﻪ ﺗﺤﺪﻳﺎت ﻋﺪة أﺑﺮزﻫﺎ: ﺑﻂء ﻋﻤﻠﻴﺔ</a:t>
            </a:r>
          </a:p>
          <a:p>
            <a:pPr algn="r"/>
            <a:r>
              <a:rPr lang="ar-SA" sz="2400" dirty="0">
                <a:latin typeface="Almarai" panose="020B0604020202020204" charset="-78"/>
                <a:cs typeface="Almarai" panose="020B0604020202020204" charset="-78"/>
              </a:rPr>
              <a:t>اﻟﺘﺸﺨﻴﺺ، اﺣﺘﻤﺎﻟﻴﺔ اﻟﺨﻄﺄ اﻟﺒﺸﺮي، اﻟﺘﺄﺧﺮ ﻓﻲ اﻟﻜﺸﻒ اﻟﻤﺒﻜﺮ، وﻣﺤﺪودﻳﺔ اﻟﻜﻮادر</a:t>
            </a:r>
          </a:p>
          <a:p>
            <a:pPr algn="r"/>
            <a:r>
              <a:rPr lang="ar-SA" sz="2400" dirty="0">
                <a:latin typeface="Almarai" panose="020B0604020202020204" charset="-78"/>
                <a:cs typeface="Almarai" panose="020B0604020202020204" charset="-78"/>
              </a:rPr>
              <a:t>اﻟﻄﺒﻴﺔ اﻟﻤﺨﺘﺼﺔ، ﻣﻤﺎ ﻳﺴﺘﺪﻋﻲ ﺗﻮﻇﻴﻒ ﺗﻘﻨﻴﺎت اﻟﺬﻛﺎء اﻻﺻﻄﻨﺎﻋﻲ ﻟﺪﻋﻢ وﺗﺴﺮﻳﻊ</a:t>
            </a:r>
          </a:p>
          <a:p>
            <a:pPr algn="r"/>
            <a:r>
              <a:rPr lang="ar-SA" sz="2400" dirty="0">
                <a:latin typeface="Almarai" panose="020B0604020202020204" charset="-78"/>
                <a:cs typeface="Almarai" panose="020B0604020202020204" charset="-78"/>
              </a:rPr>
              <a:t>ﻋﻤﻠﻴﺔ اﻟﺘﺸﺨﻴﺺ.</a:t>
            </a:r>
          </a:p>
        </p:txBody>
      </p:sp>
      <p:pic>
        <p:nvPicPr>
          <p:cNvPr id="34" name="Picture 33">
            <a:extLst>
              <a:ext uri="{FF2B5EF4-FFF2-40B4-BE49-F238E27FC236}">
                <a16:creationId xmlns:a16="http://schemas.microsoft.com/office/drawing/2014/main" id="{FCA6B2CB-5BC9-406E-3CB7-8BDB2EB88FC2}"/>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12904" y="10306050"/>
            <a:ext cx="6401693" cy="4867954"/>
          </a:xfrm>
          <a:prstGeom prst="rect">
            <a:avLst/>
          </a:prstGeom>
        </p:spPr>
      </p:pic>
      <p:sp>
        <p:nvSpPr>
          <p:cNvPr id="38" name="Rectangle 1">
            <a:extLst>
              <a:ext uri="{FF2B5EF4-FFF2-40B4-BE49-F238E27FC236}">
                <a16:creationId xmlns:a16="http://schemas.microsoft.com/office/drawing/2014/main" id="{9D9CC6BF-75D7-BDB2-1C70-A007DB168F1D}"/>
              </a:ext>
            </a:extLst>
          </p:cNvPr>
          <p:cNvSpPr>
            <a:spLocks noChangeArrowheads="1"/>
          </p:cNvSpPr>
          <p:nvPr/>
        </p:nvSpPr>
        <p:spPr bwMode="auto">
          <a:xfrm>
            <a:off x="0" y="0"/>
            <a:ext cx="15113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SA"/>
          </a:p>
        </p:txBody>
      </p:sp>
      <p:pic>
        <p:nvPicPr>
          <p:cNvPr id="40" name="Picture 39">
            <a:extLst>
              <a:ext uri="{FF2B5EF4-FFF2-40B4-BE49-F238E27FC236}">
                <a16:creationId xmlns:a16="http://schemas.microsoft.com/office/drawing/2014/main" id="{E45B9FB6-9C24-2305-1D01-7891AD3C6BE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889754" y="4953478"/>
            <a:ext cx="4229690" cy="3848637"/>
          </a:xfrm>
          <a:prstGeom prst="rect">
            <a:avLst/>
          </a:prstGeom>
        </p:spPr>
      </p:pic>
      <p:sp>
        <p:nvSpPr>
          <p:cNvPr id="41" name="Freeform 11">
            <a:extLst>
              <a:ext uri="{FF2B5EF4-FFF2-40B4-BE49-F238E27FC236}">
                <a16:creationId xmlns:a16="http://schemas.microsoft.com/office/drawing/2014/main" id="{3F45B6AB-A30A-C327-5AB4-B7496E35F9E0}"/>
              </a:ext>
            </a:extLst>
          </p:cNvPr>
          <p:cNvSpPr/>
          <p:nvPr/>
        </p:nvSpPr>
        <p:spPr>
          <a:xfrm>
            <a:off x="6740183" y="18729416"/>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44" name="TextBox 43">
            <a:extLst>
              <a:ext uri="{FF2B5EF4-FFF2-40B4-BE49-F238E27FC236}">
                <a16:creationId xmlns:a16="http://schemas.microsoft.com/office/drawing/2014/main" id="{4C432030-2DA0-4D32-A26F-8A9F4FDA727B}"/>
              </a:ext>
            </a:extLst>
          </p:cNvPr>
          <p:cNvSpPr txBox="1"/>
          <p:nvPr/>
        </p:nvSpPr>
        <p:spPr>
          <a:xfrm>
            <a:off x="97696" y="18775174"/>
            <a:ext cx="2895600" cy="446276"/>
          </a:xfrm>
          <a:prstGeom prst="rect">
            <a:avLst/>
          </a:prstGeom>
          <a:noFill/>
        </p:spPr>
        <p:txBody>
          <a:bodyPr wrap="square" rtlCol="1">
            <a:spAutoFit/>
          </a:bodyPr>
          <a:lstStyle/>
          <a:p>
            <a:pPr algn="r"/>
            <a:r>
              <a:rPr lang="ar-SA" sz="2300" dirty="0">
                <a:latin typeface="Almarai Bold" panose="020B0604020202020204" charset="-78"/>
                <a:cs typeface="Almarai Bold" panose="020B0604020202020204" charset="-78"/>
              </a:rPr>
              <a:t>المتدربة:هديل سعود</a:t>
            </a:r>
          </a:p>
        </p:txBody>
      </p:sp>
      <p:sp>
        <p:nvSpPr>
          <p:cNvPr id="45" name="Freeform 18">
            <a:extLst>
              <a:ext uri="{FF2B5EF4-FFF2-40B4-BE49-F238E27FC236}">
                <a16:creationId xmlns:a16="http://schemas.microsoft.com/office/drawing/2014/main" id="{8DC50678-411C-CE85-47DB-57F9810F554C}"/>
              </a:ext>
            </a:extLst>
          </p:cNvPr>
          <p:cNvSpPr/>
          <p:nvPr/>
        </p:nvSpPr>
        <p:spPr>
          <a:xfrm>
            <a:off x="12194986" y="18636056"/>
            <a:ext cx="523277" cy="578131"/>
          </a:xfrm>
          <a:custGeom>
            <a:avLst/>
            <a:gdLst/>
            <a:ahLst/>
            <a:cxnLst/>
            <a:rect l="l" t="t" r="r" b="b"/>
            <a:pathLst>
              <a:path w="523277" h="578131">
                <a:moveTo>
                  <a:pt x="0" y="0"/>
                </a:moveTo>
                <a:lnTo>
                  <a:pt x="523277" y="0"/>
                </a:lnTo>
                <a:lnTo>
                  <a:pt x="523277" y="578131"/>
                </a:lnTo>
                <a:lnTo>
                  <a:pt x="0" y="57813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SA"/>
          </a:p>
        </p:txBody>
      </p:sp>
      <p:sp>
        <p:nvSpPr>
          <p:cNvPr id="46" name="TextBox 45">
            <a:extLst>
              <a:ext uri="{FF2B5EF4-FFF2-40B4-BE49-F238E27FC236}">
                <a16:creationId xmlns:a16="http://schemas.microsoft.com/office/drawing/2014/main" id="{A27BC1F1-5BF4-8C81-3A2D-2CE81C3B77F5}"/>
              </a:ext>
            </a:extLst>
          </p:cNvPr>
          <p:cNvSpPr txBox="1"/>
          <p:nvPr/>
        </p:nvSpPr>
        <p:spPr>
          <a:xfrm>
            <a:off x="8467220" y="18762797"/>
            <a:ext cx="3587677" cy="461665"/>
          </a:xfrm>
          <a:prstGeom prst="rect">
            <a:avLst/>
          </a:prstGeom>
          <a:noFill/>
        </p:spPr>
        <p:txBody>
          <a:bodyPr wrap="square" rtlCol="1">
            <a:spAutoFit/>
          </a:bodyPr>
          <a:lstStyle/>
          <a:p>
            <a:pPr algn="r"/>
            <a:r>
              <a:rPr lang="ar-SA" sz="2300" dirty="0">
                <a:latin typeface="Almarai Bold" panose="020B0604020202020204" charset="-78"/>
                <a:cs typeface="Almarai Bold" panose="020B0604020202020204" charset="-78"/>
              </a:rPr>
              <a:t>المشرفه</a:t>
            </a:r>
            <a:r>
              <a:rPr lang="ar-SA" sz="2400" dirty="0">
                <a:latin typeface="Almarai Bold" panose="020B0604020202020204" charset="-78"/>
                <a:cs typeface="Almarai Bold" panose="020B0604020202020204" charset="-78"/>
              </a:rPr>
              <a:t>: أ.دانية الموسى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1214</TotalTime>
  <Words>232</Words>
  <Application>Microsoft Office PowerPoint</Application>
  <PresentationFormat>Custom</PresentationFormat>
  <Paragraphs>30</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Almarai</vt:lpstr>
      <vt:lpstr>Calibri</vt:lpstr>
      <vt:lpstr>Almarai Bold</vt:lpstr>
      <vt:lpstr>Aptos</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template</dc:title>
  <dc:creator>sara</dc:creator>
  <cp:lastModifiedBy>مروه عبدالله سبعي</cp:lastModifiedBy>
  <cp:revision>3</cp:revision>
  <dcterms:created xsi:type="dcterms:W3CDTF">2006-08-16T00:00:00Z</dcterms:created>
  <dcterms:modified xsi:type="dcterms:W3CDTF">2026-04-27T05:54:13Z</dcterms:modified>
  <dc:identifier>DAGYSpS8GME</dc:identifier>
</cp:coreProperties>
</file>